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 Muammo</a:t>
            </a:r>
          </a:p>
          <a:p/>
          <a:p>
            <a:r>
              <a:t>Tasavvur qiling: mentor dars o‘tyapti. Telegramiga esa «Kurs narxi qancha?», «Dars qachon?», «Manzilingiz qayerda?» degan savollar kelmoqda. U yo darsdan chalg‘ib javob yozadi, yo savollarni keyinga qoldiradi. Bu hozircha tekshiriladigan vaziyatimiz: qancha mentorda, qanchalik tez-tez takrorlanishini hali o‘lchamadik. Men shu muammoni tanladim, chunki mentorning vaqti o‘quvchiga e’tibor berish uchun muhim.</a:t>
            </a:r>
          </a:p>
          <a:p/>
          <a:p>
            <a:r>
              <a:t>Manba: docs/coddyhelper_lesson6_pitch_uz.md. Sinov va pilot raqamlari erishilgan natija emas.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0:30–0:55 — Yechim va muqobillar</a:t>
            </a:r>
          </a:p>
          <a:p/>
          <a:p>
            <a:r>
              <a:t>Biz buni CoddyHelper orqali yechmoqchimiz. Yordamchi sizning Telegram akkauntingizda, siz kiritgan kurs ma’lumotlari asosida javob beradi. Noaniq savolni boshqaruv guruhingizga yuboradi. O‘zingiz suhbatga qo‘shilsangiz, vaqtincha jim turadi. Hozir bunday savollarga qo‘lda yoki tayyor matnni ko‘chirib javob berish mumkin. Bizning farazimiz: shu ishni avtomatlashtirish mentor vaqtini tejaydi.</a:t>
            </a:r>
          </a:p>
          <a:p/>
          <a:p>
            <a:r>
              <a:t>Manba: docs/coddyhelper_lesson6_pitch_uz.md. Sinov va pilot raqamlari erishilgan natija emas.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0:55–1:35 — Dalil, metrika va tekshiruv</a:t>
            </a:r>
          </a:p>
          <a:p/>
          <a:p>
            <a:r>
              <a:t>Loyihada akkaunt ulash, biznes ma’lumotlarini kiritish, avtomatik javob va savolni egasiga yo‘naltirish mexanizmlari yozilgan. Ammo mijozlar qancha vaqt tejaganini hali isbotlaganimiz yo‘q.</a:t>
            </a:r>
          </a:p>
          <a:p/>
          <a:p>
            <a:r>
              <a:t>Buni besh mentor bilan pilotda tekshirmoqchimiz. Asosiy metrika — haftasiga mentor tuzatishisiz to‘g‘ri hal qilingan suhbatlar soni. Jalb qilishda taklif qilinganlardan nechtasi birinchi foydali javobgacha yetganini, qaytishda esa birinchi hafta foyda ko‘rganlardan nechtasi ikkinchi hafta ham foydalanganini o‘lchaymiz. Qo‘lda javob berishga ketgan vaqtni ham solishtiramiz. Shu orqali texnik imkoniyatning amaliy foydasini tekshiramiz.</a:t>
            </a:r>
          </a:p>
          <a:p/>
          <a:p>
            <a:r>
              <a:t>Manba: docs/coddyhelper_lesson6_pitch_uz.md. Sinov va pilot raqamlari erishilgan natija emas.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1:35–1:50 — Biznes-model</a:t>
            </a:r>
          </a:p>
          <a:p/>
          <a:p>
            <a:r>
              <a:t>Modelimiz — oylik obuna. To‘lovchi — mentor yoki markaz egasi. Joriy tarif sozlamasida Pro oyiga 99 ming so‘m. Shu narxda to‘lashga tayyorlikni hali tekshiramiz. Xaridor yordamchining yozishma yukini kamaytirishi uchun to‘laydi.</a:t>
            </a:r>
          </a:p>
          <a:p/>
          <a:p>
            <a:r>
              <a:t>Manba: docs/coddyhelper_lesson6_pitch_uz.md. Sinov va pilot raqamlari erishilgan natija emas.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1:50–2:40 — Demo</a:t>
            </a:r>
          </a:p>
          <a:p/>
          <a:p>
            <a:r>
              <a:t>Hozir bitta yo‘lni ko‘rsataman: mentor band bo‘lsa, kurs haqidagi savol qanday hal bo‘ladi?</a:t>
            </a:r>
          </a:p>
          <a:p/>
          <a:p>
            <a:r>
              <a:t>*[Oldindan tayyorlangan sinov akkauntidan «Python kursi qaysi kunlari va soat nechada?» deb yozing.]*</a:t>
            </a:r>
          </a:p>
          <a:p/>
          <a:p>
            <a:r>
              <a:t>Bu sinov kursining jadvali oldindan kiritilgan. Agent shu ma’lumot asosida javob beradi.</a:t>
            </a:r>
          </a:p>
          <a:p/>
          <a:p>
            <a:r>
              <a:t>*[Javobni va unga asos bo‘lgan jadvalni ko‘rsating.]*</a:t>
            </a:r>
          </a:p>
          <a:p/>
          <a:p>
            <a:r>
              <a:t>So‘rovchi kerakli ma’lumotni oldi; mentor bu javobni qo‘lda yozmadi. Pilotda shunday suhbatlarni tekshirib, nechta savol to‘g‘ri hal bo‘lganini hisoblaymiz.</a:t>
            </a:r>
          </a:p>
          <a:p/>
          <a:p>
            <a:r>
              <a:t>Manba: docs/coddyhelper_lesson6_pitch_uz.md. Sinov va pilot raqamlari erishilgan natija emas.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2:40–3:00 — CTA</a:t>
            </a:r>
          </a:p>
          <a:p/>
          <a:p>
            <a:r>
              <a:t>Telegramda takroriy savollar oladigan besh mentorni ikki haftalik pilotga taklif qilaman. Qatnashish uchun bugun menga «pilot» deb yozing va eng ko‘p keladigan beshta savolingizni tayyorlang. Birgalikda yordamchi qancha savolni to‘g‘ri hal qilishi va sizga qancha vaqt qaytarishini tekshiramiz.</a:t>
            </a:r>
          </a:p>
          <a:p/>
          <a:p>
            <a:r>
              <a:t>Manba: docs/coddyhelper_lesson6_pitch_uz.md. Sinov va pilot raqamlari erishilgan natija emas.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A28"/>
        </a:solidFill>
        <a:effectLst/>
      </p:bgPr>
    </p:bg>
    <p:spTree>
      <p:nvGrpSpPr>
        <p:cNvPr id="1" name=""/>
        <p:cNvGrpSpPr/>
        <p:nvPr/>
      </p:nvGrpSpPr>
      <p:grpSpPr/>
      <p:sp>
        <p:nvSpPr>
          <p:cNvPr id="2" name="Rectangle 1"/>
          <p:cNvSpPr/>
          <p:nvPr/>
        </p:nvSpPr>
        <p:spPr>
          <a:xfrm>
            <a:off x="548640" y="464820"/>
            <a:ext cx="76200" cy="198120"/>
          </a:xfrm>
          <a:prstGeom prst="rect">
            <a:avLst/>
          </a:prstGeom>
          <a:solidFill>
            <a:srgbClr val="72E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457200"/>
            <a:ext cx="6096000" cy="274320"/>
          </a:xfrm>
          <a:prstGeom prst="rect">
            <a:avLst/>
          </a:prstGeom>
          <a:noFill/>
        </p:spPr>
        <p:txBody>
          <a:bodyPr wrap="none" lIns="0" rIns="0" tIns="0" bIns="0">
            <a:spAutoFit/>
          </a:bodyPr>
          <a:lstStyle/>
          <a:p>
            <a:pPr>
              <a:lnSpc>
                <a:spcPts val="1560"/>
              </a:lnSpc>
              <a:spcAft>
                <a:spcPts val="0"/>
              </a:spcAft>
              <a:defRPr sz="1260" b="1">
                <a:solidFill>
                  <a:srgbClr val="72E3BB"/>
                </a:solidFill>
                <a:latin typeface="Arial"/>
              </a:defRPr>
            </a:pPr>
            <a:r>
              <a:t>CODDYHELPER / MUAMMO</a:t>
            </a:r>
          </a:p>
        </p:txBody>
      </p:sp>
      <p:sp>
        <p:nvSpPr>
          <p:cNvPr id="4" name="TextBox 3"/>
          <p:cNvSpPr txBox="1"/>
          <p:nvPr/>
        </p:nvSpPr>
        <p:spPr>
          <a:xfrm>
            <a:off x="9829800" y="472440"/>
            <a:ext cx="1905000" cy="274320"/>
          </a:xfrm>
          <a:prstGeom prst="rect">
            <a:avLst/>
          </a:prstGeom>
          <a:noFill/>
        </p:spPr>
        <p:txBody>
          <a:bodyPr wrap="none" lIns="0" rIns="0" tIns="0" bIns="0">
            <a:spAutoFit/>
          </a:bodyPr>
          <a:lstStyle/>
          <a:p>
            <a:pPr>
              <a:lnSpc>
                <a:spcPts val="1560"/>
              </a:lnSpc>
              <a:spcAft>
                <a:spcPts val="0"/>
              </a:spcAft>
              <a:defRPr sz="1260" b="0">
                <a:solidFill>
                  <a:srgbClr val="A9B8C9"/>
                </a:solidFill>
                <a:latin typeface="Arial"/>
              </a:defRPr>
            </a:pPr>
            <a:r>
              <a:t>0:00–0:30</a:t>
            </a:r>
          </a:p>
        </p:txBody>
      </p:sp>
      <p:sp>
        <p:nvSpPr>
          <p:cNvPr id="5" name="TextBox 4"/>
          <p:cNvSpPr txBox="1"/>
          <p:nvPr/>
        </p:nvSpPr>
        <p:spPr>
          <a:xfrm>
            <a:off x="548640" y="1051560"/>
            <a:ext cx="11049000" cy="1325880"/>
          </a:xfrm>
          <a:prstGeom prst="rect">
            <a:avLst/>
          </a:prstGeom>
          <a:noFill/>
        </p:spPr>
        <p:txBody>
          <a:bodyPr wrap="none" lIns="0" rIns="0" tIns="0" bIns="0">
            <a:spAutoFit/>
          </a:bodyPr>
          <a:lstStyle/>
          <a:p>
            <a:pPr>
              <a:lnSpc>
                <a:spcPts val="4920"/>
              </a:lnSpc>
              <a:spcAft>
                <a:spcPts val="0"/>
              </a:spcAft>
              <a:defRPr sz="3960" b="1">
                <a:solidFill>
                  <a:srgbClr val="F5F7FA"/>
                </a:solidFill>
                <a:latin typeface="Arial"/>
              </a:defRPr>
            </a:pPr>
            <a:r>
              <a:t>Dars davom etsin.</a:t>
            </a:r>
          </a:p>
          <a:p>
            <a:pPr>
              <a:lnSpc>
                <a:spcPts val="4920"/>
              </a:lnSpc>
              <a:spcAft>
                <a:spcPts val="0"/>
              </a:spcAft>
              <a:defRPr sz="3960" b="1">
                <a:solidFill>
                  <a:srgbClr val="F5F7FA"/>
                </a:solidFill>
                <a:latin typeface="Arial"/>
              </a:defRPr>
            </a:pPr>
            <a:r>
              <a:t>Savollar kutib qolmasin.</a:t>
            </a:r>
          </a:p>
        </p:txBody>
      </p:sp>
      <p:sp>
        <p:nvSpPr>
          <p:cNvPr id="6" name="Rectangle 5"/>
          <p:cNvSpPr/>
          <p:nvPr/>
        </p:nvSpPr>
        <p:spPr>
          <a:xfrm>
            <a:off x="548640" y="6278880"/>
            <a:ext cx="11087100" cy="15240"/>
          </a:xfrm>
          <a:prstGeom prst="rect">
            <a:avLst/>
          </a:prstGeom>
          <a:solidFill>
            <a:srgbClr val="2A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3880" y="6461760"/>
            <a:ext cx="91440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LESSON 6 · PITCH &amp; DEMO DAY</a:t>
            </a:r>
          </a:p>
        </p:txBody>
      </p:sp>
      <p:sp>
        <p:nvSpPr>
          <p:cNvPr id="8" name="TextBox 7"/>
          <p:cNvSpPr txBox="1"/>
          <p:nvPr/>
        </p:nvSpPr>
        <p:spPr>
          <a:xfrm>
            <a:off x="10934700" y="6461760"/>
            <a:ext cx="9144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01 / 06</a:t>
            </a:r>
          </a:p>
        </p:txBody>
      </p:sp>
      <p:sp>
        <p:nvSpPr>
          <p:cNvPr id="9" name="TextBox 8"/>
          <p:cNvSpPr txBox="1"/>
          <p:nvPr/>
        </p:nvSpPr>
        <p:spPr>
          <a:xfrm>
            <a:off x="571500" y="2514600"/>
            <a:ext cx="10668000" cy="350520"/>
          </a:xfrm>
          <a:prstGeom prst="rect">
            <a:avLst/>
          </a:prstGeom>
          <a:noFill/>
        </p:spPr>
        <p:txBody>
          <a:bodyPr wrap="none" lIns="0" rIns="0" tIns="0" bIns="0">
            <a:spAutoFit/>
          </a:bodyPr>
          <a:lstStyle/>
          <a:p>
            <a:pPr>
              <a:lnSpc>
                <a:spcPts val="2160"/>
              </a:lnSpc>
              <a:spcAft>
                <a:spcPts val="0"/>
              </a:spcAft>
              <a:defRPr sz="1739" b="0">
                <a:solidFill>
                  <a:srgbClr val="A9B8C9"/>
                </a:solidFill>
                <a:latin typeface="Arial"/>
              </a:defRPr>
            </a:pPr>
            <a:r>
              <a:t>Boshlang‘ich auditoriya: mentorlar va kichik o‘quv markazlari.</a:t>
            </a:r>
          </a:p>
        </p:txBody>
      </p:sp>
      <p:sp>
        <p:nvSpPr>
          <p:cNvPr id="10" name="Rectangle 9"/>
          <p:cNvSpPr/>
          <p:nvPr/>
        </p:nvSpPr>
        <p:spPr>
          <a:xfrm>
            <a:off x="563880" y="3200400"/>
            <a:ext cx="3505200" cy="990599"/>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520440"/>
            <a:ext cx="3124200" cy="381000"/>
          </a:xfrm>
          <a:prstGeom prst="rect">
            <a:avLst/>
          </a:prstGeom>
          <a:noFill/>
        </p:spPr>
        <p:txBody>
          <a:bodyPr wrap="none" lIns="0" rIns="0" tIns="0" bIns="0">
            <a:spAutoFit/>
          </a:bodyPr>
          <a:lstStyle/>
          <a:p>
            <a:pPr>
              <a:lnSpc>
                <a:spcPts val="2400"/>
              </a:lnSpc>
              <a:spcAft>
                <a:spcPts val="0"/>
              </a:spcAft>
              <a:defRPr sz="1920" b="1">
                <a:solidFill>
                  <a:srgbClr val="F5F7FA"/>
                </a:solidFill>
                <a:latin typeface="Arial"/>
              </a:defRPr>
            </a:pPr>
            <a:r>
              <a:t>Kurs narxi qancha?</a:t>
            </a:r>
          </a:p>
        </p:txBody>
      </p:sp>
      <p:sp>
        <p:nvSpPr>
          <p:cNvPr id="12" name="Rectangle 11"/>
          <p:cNvSpPr/>
          <p:nvPr/>
        </p:nvSpPr>
        <p:spPr>
          <a:xfrm>
            <a:off x="4343400" y="3200400"/>
            <a:ext cx="3505200" cy="990599"/>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6760" y="3520440"/>
            <a:ext cx="3124200" cy="381000"/>
          </a:xfrm>
          <a:prstGeom prst="rect">
            <a:avLst/>
          </a:prstGeom>
          <a:noFill/>
        </p:spPr>
        <p:txBody>
          <a:bodyPr wrap="none" lIns="0" rIns="0" tIns="0" bIns="0">
            <a:spAutoFit/>
          </a:bodyPr>
          <a:lstStyle/>
          <a:p>
            <a:pPr>
              <a:lnSpc>
                <a:spcPts val="2400"/>
              </a:lnSpc>
              <a:spcAft>
                <a:spcPts val="0"/>
              </a:spcAft>
              <a:defRPr sz="1920" b="1">
                <a:solidFill>
                  <a:srgbClr val="F5F7FA"/>
                </a:solidFill>
                <a:latin typeface="Arial"/>
              </a:defRPr>
            </a:pPr>
            <a:r>
              <a:t>Dars qachon?</a:t>
            </a:r>
          </a:p>
        </p:txBody>
      </p:sp>
      <p:sp>
        <p:nvSpPr>
          <p:cNvPr id="14" name="Rectangle 13"/>
          <p:cNvSpPr/>
          <p:nvPr/>
        </p:nvSpPr>
        <p:spPr>
          <a:xfrm>
            <a:off x="8122920" y="3200400"/>
            <a:ext cx="3505200" cy="990599"/>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6280" y="3520440"/>
            <a:ext cx="3124200" cy="381000"/>
          </a:xfrm>
          <a:prstGeom prst="rect">
            <a:avLst/>
          </a:prstGeom>
          <a:noFill/>
        </p:spPr>
        <p:txBody>
          <a:bodyPr wrap="none" lIns="0" rIns="0" tIns="0" bIns="0">
            <a:spAutoFit/>
          </a:bodyPr>
          <a:lstStyle/>
          <a:p>
            <a:pPr>
              <a:lnSpc>
                <a:spcPts val="2400"/>
              </a:lnSpc>
              <a:spcAft>
                <a:spcPts val="0"/>
              </a:spcAft>
              <a:defRPr sz="1920" b="1">
                <a:solidFill>
                  <a:srgbClr val="F5F7FA"/>
                </a:solidFill>
                <a:latin typeface="Arial"/>
              </a:defRPr>
            </a:pPr>
            <a:r>
              <a:t>Manzil qayerda?</a:t>
            </a:r>
          </a:p>
        </p:txBody>
      </p:sp>
      <p:sp>
        <p:nvSpPr>
          <p:cNvPr id="16" name="TextBox 15"/>
          <p:cNvSpPr txBox="1"/>
          <p:nvPr/>
        </p:nvSpPr>
        <p:spPr>
          <a:xfrm>
            <a:off x="563880" y="4625340"/>
            <a:ext cx="10668000" cy="396240"/>
          </a:xfrm>
          <a:prstGeom prst="rect">
            <a:avLst/>
          </a:prstGeom>
          <a:noFill/>
        </p:spPr>
        <p:txBody>
          <a:bodyPr wrap="none" lIns="0" rIns="0" tIns="0" bIns="0">
            <a:spAutoFit/>
          </a:bodyPr>
          <a:lstStyle/>
          <a:p>
            <a:pPr>
              <a:lnSpc>
                <a:spcPts val="2520"/>
              </a:lnSpc>
              <a:spcAft>
                <a:spcPts val="0"/>
              </a:spcAft>
              <a:defRPr sz="2039" b="0">
                <a:solidFill>
                  <a:srgbClr val="F5F7FA"/>
                </a:solidFill>
                <a:latin typeface="Arial"/>
              </a:defRPr>
            </a:pPr>
            <a:r>
              <a:t>Har safar qo‘lda javob → darsdan chalg‘ish yoki kechikkan javob.</a:t>
            </a:r>
          </a:p>
        </p:txBody>
      </p:sp>
      <p:sp>
        <p:nvSpPr>
          <p:cNvPr id="17" name="TextBox 16"/>
          <p:cNvSpPr txBox="1"/>
          <p:nvPr/>
        </p:nvSpPr>
        <p:spPr>
          <a:xfrm>
            <a:off x="563880" y="5600700"/>
            <a:ext cx="10668000" cy="289560"/>
          </a:xfrm>
          <a:prstGeom prst="rect">
            <a:avLst/>
          </a:prstGeom>
          <a:noFill/>
        </p:spPr>
        <p:txBody>
          <a:bodyPr wrap="none" lIns="0" rIns="0" tIns="0" bIns="0">
            <a:spAutoFit/>
          </a:bodyPr>
          <a:lstStyle/>
          <a:p>
            <a:pPr>
              <a:lnSpc>
                <a:spcPts val="1680"/>
              </a:lnSpc>
              <a:spcAft>
                <a:spcPts val="0"/>
              </a:spcAft>
              <a:defRPr sz="1380" b="0">
                <a:solidFill>
                  <a:srgbClr val="72E3BB"/>
                </a:solidFill>
                <a:latin typeface="Arial"/>
              </a:defRPr>
            </a:pPr>
            <a:r>
              <a:t>Muammo farazi. Ko‘lami va sarflanadigan vaqt hali o‘lchanmagan.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A28"/>
        </a:solidFill>
        <a:effectLst/>
      </p:bgPr>
    </p:bg>
    <p:spTree>
      <p:nvGrpSpPr>
        <p:cNvPr id="1" name=""/>
        <p:cNvGrpSpPr/>
        <p:nvPr/>
      </p:nvGrpSpPr>
      <p:grpSpPr/>
      <p:sp>
        <p:nvSpPr>
          <p:cNvPr id="2" name="Rectangle 1"/>
          <p:cNvSpPr/>
          <p:nvPr/>
        </p:nvSpPr>
        <p:spPr>
          <a:xfrm>
            <a:off x="548640" y="464820"/>
            <a:ext cx="76200" cy="198120"/>
          </a:xfrm>
          <a:prstGeom prst="rect">
            <a:avLst/>
          </a:prstGeom>
          <a:solidFill>
            <a:srgbClr val="72E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457200"/>
            <a:ext cx="6096000" cy="274320"/>
          </a:xfrm>
          <a:prstGeom prst="rect">
            <a:avLst/>
          </a:prstGeom>
          <a:noFill/>
        </p:spPr>
        <p:txBody>
          <a:bodyPr wrap="none" lIns="0" rIns="0" tIns="0" bIns="0">
            <a:spAutoFit/>
          </a:bodyPr>
          <a:lstStyle/>
          <a:p>
            <a:pPr>
              <a:lnSpc>
                <a:spcPts val="1560"/>
              </a:lnSpc>
              <a:spcAft>
                <a:spcPts val="0"/>
              </a:spcAft>
              <a:defRPr sz="1260" b="1">
                <a:solidFill>
                  <a:srgbClr val="72E3BB"/>
                </a:solidFill>
                <a:latin typeface="Arial"/>
              </a:defRPr>
            </a:pPr>
            <a:r>
              <a:t>CODDYHELPER / YECHIM</a:t>
            </a:r>
          </a:p>
        </p:txBody>
      </p:sp>
      <p:sp>
        <p:nvSpPr>
          <p:cNvPr id="4" name="TextBox 3"/>
          <p:cNvSpPr txBox="1"/>
          <p:nvPr/>
        </p:nvSpPr>
        <p:spPr>
          <a:xfrm>
            <a:off x="9829800" y="472440"/>
            <a:ext cx="1905000" cy="274320"/>
          </a:xfrm>
          <a:prstGeom prst="rect">
            <a:avLst/>
          </a:prstGeom>
          <a:noFill/>
        </p:spPr>
        <p:txBody>
          <a:bodyPr wrap="none" lIns="0" rIns="0" tIns="0" bIns="0">
            <a:spAutoFit/>
          </a:bodyPr>
          <a:lstStyle/>
          <a:p>
            <a:pPr>
              <a:lnSpc>
                <a:spcPts val="1560"/>
              </a:lnSpc>
              <a:spcAft>
                <a:spcPts val="0"/>
              </a:spcAft>
              <a:defRPr sz="1260" b="0">
                <a:solidFill>
                  <a:srgbClr val="A9B8C9"/>
                </a:solidFill>
                <a:latin typeface="Arial"/>
              </a:defRPr>
            </a:pPr>
            <a:r>
              <a:t>0:30–0:55</a:t>
            </a:r>
          </a:p>
        </p:txBody>
      </p:sp>
      <p:sp>
        <p:nvSpPr>
          <p:cNvPr id="5" name="TextBox 4"/>
          <p:cNvSpPr txBox="1"/>
          <p:nvPr/>
        </p:nvSpPr>
        <p:spPr>
          <a:xfrm>
            <a:off x="548640" y="1051560"/>
            <a:ext cx="11049000" cy="1325880"/>
          </a:xfrm>
          <a:prstGeom prst="rect">
            <a:avLst/>
          </a:prstGeom>
          <a:noFill/>
        </p:spPr>
        <p:txBody>
          <a:bodyPr wrap="none" lIns="0" rIns="0" tIns="0" bIns="0">
            <a:spAutoFit/>
          </a:bodyPr>
          <a:lstStyle/>
          <a:p>
            <a:pPr>
              <a:lnSpc>
                <a:spcPts val="4920"/>
              </a:lnSpc>
              <a:spcAft>
                <a:spcPts val="0"/>
              </a:spcAft>
              <a:defRPr sz="3960" b="1">
                <a:solidFill>
                  <a:srgbClr val="F5F7FA"/>
                </a:solidFill>
                <a:latin typeface="Arial"/>
              </a:defRPr>
            </a:pPr>
            <a:r>
              <a:t>Telegramingizdagi</a:t>
            </a:r>
          </a:p>
          <a:p>
            <a:pPr>
              <a:lnSpc>
                <a:spcPts val="4920"/>
              </a:lnSpc>
              <a:spcAft>
                <a:spcPts val="0"/>
              </a:spcAft>
              <a:defRPr sz="3960" b="1">
                <a:solidFill>
                  <a:srgbClr val="F5F7FA"/>
                </a:solidFill>
                <a:latin typeface="Arial"/>
              </a:defRPr>
            </a:pPr>
            <a:r>
              <a:t>shaxsiy AI yordamchi</a:t>
            </a:r>
          </a:p>
        </p:txBody>
      </p:sp>
      <p:sp>
        <p:nvSpPr>
          <p:cNvPr id="6" name="Rectangle 5"/>
          <p:cNvSpPr/>
          <p:nvPr/>
        </p:nvSpPr>
        <p:spPr>
          <a:xfrm>
            <a:off x="548640" y="6278880"/>
            <a:ext cx="11087100" cy="15240"/>
          </a:xfrm>
          <a:prstGeom prst="rect">
            <a:avLst/>
          </a:prstGeom>
          <a:solidFill>
            <a:srgbClr val="2A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3880" y="6461760"/>
            <a:ext cx="91440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LESSON 6 · PITCH &amp; DEMO DAY</a:t>
            </a:r>
          </a:p>
        </p:txBody>
      </p:sp>
      <p:sp>
        <p:nvSpPr>
          <p:cNvPr id="8" name="TextBox 7"/>
          <p:cNvSpPr txBox="1"/>
          <p:nvPr/>
        </p:nvSpPr>
        <p:spPr>
          <a:xfrm>
            <a:off x="10934700" y="6461760"/>
            <a:ext cx="9144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02 / 06</a:t>
            </a:r>
          </a:p>
        </p:txBody>
      </p:sp>
      <p:sp>
        <p:nvSpPr>
          <p:cNvPr id="9" name="Rectangle 8"/>
          <p:cNvSpPr/>
          <p:nvPr/>
        </p:nvSpPr>
        <p:spPr>
          <a:xfrm>
            <a:off x="563880" y="2781300"/>
            <a:ext cx="3505200" cy="2286000"/>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620" y="3009900"/>
            <a:ext cx="3048000" cy="327660"/>
          </a:xfrm>
          <a:prstGeom prst="rect">
            <a:avLst/>
          </a:prstGeom>
          <a:noFill/>
        </p:spPr>
        <p:txBody>
          <a:bodyPr wrap="none" lIns="0" rIns="0" tIns="0" bIns="0">
            <a:spAutoFit/>
          </a:bodyPr>
          <a:lstStyle/>
          <a:p>
            <a:pPr>
              <a:lnSpc>
                <a:spcPts val="1980"/>
              </a:lnSpc>
              <a:spcAft>
                <a:spcPts val="0"/>
              </a:spcAft>
              <a:defRPr sz="1620" b="1">
                <a:solidFill>
                  <a:srgbClr val="72E3BB"/>
                </a:solidFill>
                <a:latin typeface="Arial"/>
              </a:defRPr>
            </a:pPr>
            <a:r>
              <a:t>01</a:t>
            </a:r>
          </a:p>
        </p:txBody>
      </p:sp>
      <p:sp>
        <p:nvSpPr>
          <p:cNvPr id="11" name="TextBox 10"/>
          <p:cNvSpPr txBox="1"/>
          <p:nvPr/>
        </p:nvSpPr>
        <p:spPr>
          <a:xfrm>
            <a:off x="769620" y="3436620"/>
            <a:ext cx="3101340" cy="381000"/>
          </a:xfrm>
          <a:prstGeom prst="rect">
            <a:avLst/>
          </a:prstGeom>
          <a:noFill/>
        </p:spPr>
        <p:txBody>
          <a:bodyPr wrap="none" lIns="0" rIns="0" tIns="0" bIns="0">
            <a:spAutoFit/>
          </a:bodyPr>
          <a:lstStyle/>
          <a:p>
            <a:pPr>
              <a:lnSpc>
                <a:spcPts val="2400"/>
              </a:lnSpc>
              <a:spcAft>
                <a:spcPts val="0"/>
              </a:spcAft>
              <a:defRPr sz="1920" b="1">
                <a:solidFill>
                  <a:srgbClr val="F5F7FA"/>
                </a:solidFill>
                <a:latin typeface="Arial"/>
              </a:defRPr>
            </a:pPr>
            <a:r>
              <a:t>Ma’lumotdan javob</a:t>
            </a:r>
          </a:p>
        </p:txBody>
      </p:sp>
      <p:sp>
        <p:nvSpPr>
          <p:cNvPr id="12" name="TextBox 11"/>
          <p:cNvSpPr txBox="1"/>
          <p:nvPr/>
        </p:nvSpPr>
        <p:spPr>
          <a:xfrm>
            <a:off x="769620" y="3924300"/>
            <a:ext cx="3063240" cy="624840"/>
          </a:xfrm>
          <a:prstGeom prst="rect">
            <a:avLst/>
          </a:prstGeom>
          <a:noFill/>
        </p:spPr>
        <p:txBody>
          <a:bodyPr wrap="none" lIns="0" rIns="0" tIns="0" bIns="0">
            <a:spAutoFit/>
          </a:bodyPr>
          <a:lstStyle/>
          <a:p>
            <a:pPr>
              <a:lnSpc>
                <a:spcPts val="2160"/>
              </a:lnSpc>
              <a:spcAft>
                <a:spcPts val="0"/>
              </a:spcAft>
              <a:defRPr sz="1739" b="0">
                <a:solidFill>
                  <a:srgbClr val="A9B8C9"/>
                </a:solidFill>
                <a:latin typeface="Arial"/>
              </a:defRPr>
            </a:pPr>
            <a:r>
              <a:t>Siz kiritgan kurs ma’lumotlari</a:t>
            </a:r>
          </a:p>
          <a:p>
            <a:pPr>
              <a:lnSpc>
                <a:spcPts val="2160"/>
              </a:lnSpc>
              <a:spcAft>
                <a:spcPts val="0"/>
              </a:spcAft>
              <a:defRPr sz="1739" b="0">
                <a:solidFill>
                  <a:srgbClr val="A9B8C9"/>
                </a:solidFill>
                <a:latin typeface="Arial"/>
              </a:defRPr>
            </a:pPr>
            <a:r>
              <a:t>asosida javob beradi.</a:t>
            </a:r>
          </a:p>
        </p:txBody>
      </p:sp>
      <p:sp>
        <p:nvSpPr>
          <p:cNvPr id="13" name="Rectangle 12"/>
          <p:cNvSpPr/>
          <p:nvPr/>
        </p:nvSpPr>
        <p:spPr>
          <a:xfrm>
            <a:off x="4343400" y="2781300"/>
            <a:ext cx="3505200" cy="2286000"/>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9140" y="3009900"/>
            <a:ext cx="3048000" cy="327660"/>
          </a:xfrm>
          <a:prstGeom prst="rect">
            <a:avLst/>
          </a:prstGeom>
          <a:noFill/>
        </p:spPr>
        <p:txBody>
          <a:bodyPr wrap="none" lIns="0" rIns="0" tIns="0" bIns="0">
            <a:spAutoFit/>
          </a:bodyPr>
          <a:lstStyle/>
          <a:p>
            <a:pPr>
              <a:lnSpc>
                <a:spcPts val="1980"/>
              </a:lnSpc>
              <a:spcAft>
                <a:spcPts val="0"/>
              </a:spcAft>
              <a:defRPr sz="1620" b="1">
                <a:solidFill>
                  <a:srgbClr val="72E3BB"/>
                </a:solidFill>
                <a:latin typeface="Arial"/>
              </a:defRPr>
            </a:pPr>
            <a:r>
              <a:t>02</a:t>
            </a:r>
          </a:p>
        </p:txBody>
      </p:sp>
      <p:sp>
        <p:nvSpPr>
          <p:cNvPr id="15" name="TextBox 14"/>
          <p:cNvSpPr txBox="1"/>
          <p:nvPr/>
        </p:nvSpPr>
        <p:spPr>
          <a:xfrm>
            <a:off x="4549140" y="3436620"/>
            <a:ext cx="3101340" cy="381000"/>
          </a:xfrm>
          <a:prstGeom prst="rect">
            <a:avLst/>
          </a:prstGeom>
          <a:noFill/>
        </p:spPr>
        <p:txBody>
          <a:bodyPr wrap="none" lIns="0" rIns="0" tIns="0" bIns="0">
            <a:spAutoFit/>
          </a:bodyPr>
          <a:lstStyle/>
          <a:p>
            <a:pPr>
              <a:lnSpc>
                <a:spcPts val="2400"/>
              </a:lnSpc>
              <a:spcAft>
                <a:spcPts val="0"/>
              </a:spcAft>
              <a:defRPr sz="1920" b="1">
                <a:solidFill>
                  <a:srgbClr val="F5F7FA"/>
                </a:solidFill>
                <a:latin typeface="Arial"/>
              </a:defRPr>
            </a:pPr>
            <a:r>
              <a:t>Savol egasiga</a:t>
            </a:r>
          </a:p>
        </p:txBody>
      </p:sp>
      <p:sp>
        <p:nvSpPr>
          <p:cNvPr id="16" name="TextBox 15"/>
          <p:cNvSpPr txBox="1"/>
          <p:nvPr/>
        </p:nvSpPr>
        <p:spPr>
          <a:xfrm>
            <a:off x="4549140" y="3924300"/>
            <a:ext cx="3063240" cy="624840"/>
          </a:xfrm>
          <a:prstGeom prst="rect">
            <a:avLst/>
          </a:prstGeom>
          <a:noFill/>
        </p:spPr>
        <p:txBody>
          <a:bodyPr wrap="none" lIns="0" rIns="0" tIns="0" bIns="0">
            <a:spAutoFit/>
          </a:bodyPr>
          <a:lstStyle/>
          <a:p>
            <a:pPr>
              <a:lnSpc>
                <a:spcPts val="2160"/>
              </a:lnSpc>
              <a:spcAft>
                <a:spcPts val="0"/>
              </a:spcAft>
              <a:defRPr sz="1739" b="0">
                <a:solidFill>
                  <a:srgbClr val="A9B8C9"/>
                </a:solidFill>
                <a:latin typeface="Arial"/>
              </a:defRPr>
            </a:pPr>
            <a:r>
              <a:t>Noaniq savolni boshqaruv</a:t>
            </a:r>
          </a:p>
          <a:p>
            <a:pPr>
              <a:lnSpc>
                <a:spcPts val="2160"/>
              </a:lnSpc>
              <a:spcAft>
                <a:spcPts val="0"/>
              </a:spcAft>
              <a:defRPr sz="1739" b="0">
                <a:solidFill>
                  <a:srgbClr val="A9B8C9"/>
                </a:solidFill>
                <a:latin typeface="Arial"/>
              </a:defRPr>
            </a:pPr>
            <a:r>
              <a:t>guruhingizga yetkazadi.</a:t>
            </a:r>
          </a:p>
        </p:txBody>
      </p:sp>
      <p:sp>
        <p:nvSpPr>
          <p:cNvPr id="17" name="Rectangle 16"/>
          <p:cNvSpPr/>
          <p:nvPr/>
        </p:nvSpPr>
        <p:spPr>
          <a:xfrm>
            <a:off x="8122920" y="2781300"/>
            <a:ext cx="3505200" cy="2286000"/>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8659" y="3009900"/>
            <a:ext cx="3048000" cy="327660"/>
          </a:xfrm>
          <a:prstGeom prst="rect">
            <a:avLst/>
          </a:prstGeom>
          <a:noFill/>
        </p:spPr>
        <p:txBody>
          <a:bodyPr wrap="none" lIns="0" rIns="0" tIns="0" bIns="0">
            <a:spAutoFit/>
          </a:bodyPr>
          <a:lstStyle/>
          <a:p>
            <a:pPr>
              <a:lnSpc>
                <a:spcPts val="1980"/>
              </a:lnSpc>
              <a:spcAft>
                <a:spcPts val="0"/>
              </a:spcAft>
              <a:defRPr sz="1620" b="1">
                <a:solidFill>
                  <a:srgbClr val="72E3BB"/>
                </a:solidFill>
                <a:latin typeface="Arial"/>
              </a:defRPr>
            </a:pPr>
            <a:r>
              <a:t>03</a:t>
            </a:r>
          </a:p>
        </p:txBody>
      </p:sp>
      <p:sp>
        <p:nvSpPr>
          <p:cNvPr id="19" name="TextBox 18"/>
          <p:cNvSpPr txBox="1"/>
          <p:nvPr/>
        </p:nvSpPr>
        <p:spPr>
          <a:xfrm>
            <a:off x="8328659" y="3436620"/>
            <a:ext cx="3101340" cy="381000"/>
          </a:xfrm>
          <a:prstGeom prst="rect">
            <a:avLst/>
          </a:prstGeom>
          <a:noFill/>
        </p:spPr>
        <p:txBody>
          <a:bodyPr wrap="none" lIns="0" rIns="0" tIns="0" bIns="0">
            <a:spAutoFit/>
          </a:bodyPr>
          <a:lstStyle/>
          <a:p>
            <a:pPr>
              <a:lnSpc>
                <a:spcPts val="2400"/>
              </a:lnSpc>
              <a:spcAft>
                <a:spcPts val="0"/>
              </a:spcAft>
              <a:defRPr sz="1920" b="1">
                <a:solidFill>
                  <a:srgbClr val="F5F7FA"/>
                </a:solidFill>
                <a:latin typeface="Arial"/>
              </a:defRPr>
            </a:pPr>
            <a:r>
              <a:t>Inson boshqaruvi</a:t>
            </a:r>
          </a:p>
        </p:txBody>
      </p:sp>
      <p:sp>
        <p:nvSpPr>
          <p:cNvPr id="20" name="TextBox 19"/>
          <p:cNvSpPr txBox="1"/>
          <p:nvPr/>
        </p:nvSpPr>
        <p:spPr>
          <a:xfrm>
            <a:off x="8328659" y="3924300"/>
            <a:ext cx="3063240" cy="899160"/>
          </a:xfrm>
          <a:prstGeom prst="rect">
            <a:avLst/>
          </a:prstGeom>
          <a:noFill/>
        </p:spPr>
        <p:txBody>
          <a:bodyPr wrap="none" lIns="0" rIns="0" tIns="0" bIns="0">
            <a:spAutoFit/>
          </a:bodyPr>
          <a:lstStyle/>
          <a:p>
            <a:pPr>
              <a:lnSpc>
                <a:spcPts val="2160"/>
              </a:lnSpc>
              <a:spcAft>
                <a:spcPts val="0"/>
              </a:spcAft>
              <a:defRPr sz="1739" b="0">
                <a:solidFill>
                  <a:srgbClr val="A9B8C9"/>
                </a:solidFill>
                <a:latin typeface="Arial"/>
              </a:defRPr>
            </a:pPr>
            <a:r>
              <a:t>Suhbatga o‘zingiz</a:t>
            </a:r>
          </a:p>
          <a:p>
            <a:pPr>
              <a:lnSpc>
                <a:spcPts val="2160"/>
              </a:lnSpc>
              <a:spcAft>
                <a:spcPts val="0"/>
              </a:spcAft>
              <a:defRPr sz="1739" b="0">
                <a:solidFill>
                  <a:srgbClr val="A9B8C9"/>
                </a:solidFill>
                <a:latin typeface="Arial"/>
              </a:defRPr>
            </a:pPr>
            <a:r>
              <a:t>qo‘shilsangiz, vaqtincha jim</a:t>
            </a:r>
          </a:p>
          <a:p>
            <a:pPr>
              <a:lnSpc>
                <a:spcPts val="2160"/>
              </a:lnSpc>
              <a:spcAft>
                <a:spcPts val="0"/>
              </a:spcAft>
              <a:defRPr sz="1739" b="0">
                <a:solidFill>
                  <a:srgbClr val="A9B8C9"/>
                </a:solidFill>
                <a:latin typeface="Arial"/>
              </a:defRPr>
            </a:pPr>
            <a:r>
              <a:t>turadi.</a:t>
            </a:r>
          </a:p>
        </p:txBody>
      </p:sp>
      <p:sp>
        <p:nvSpPr>
          <p:cNvPr id="21" name="TextBox 20"/>
          <p:cNvSpPr txBox="1"/>
          <p:nvPr/>
        </p:nvSpPr>
        <p:spPr>
          <a:xfrm>
            <a:off x="563880" y="5410200"/>
            <a:ext cx="10668000" cy="327660"/>
          </a:xfrm>
          <a:prstGeom prst="rect">
            <a:avLst/>
          </a:prstGeom>
          <a:noFill/>
        </p:spPr>
        <p:txBody>
          <a:bodyPr wrap="none" lIns="0" rIns="0" tIns="0" bIns="0">
            <a:spAutoFit/>
          </a:bodyPr>
          <a:lstStyle/>
          <a:p>
            <a:pPr>
              <a:lnSpc>
                <a:spcPts val="1980"/>
              </a:lnSpc>
              <a:spcAft>
                <a:spcPts val="0"/>
              </a:spcAft>
              <a:defRPr sz="1620" b="0">
                <a:solidFill>
                  <a:srgbClr val="A9B8C9"/>
                </a:solidFill>
                <a:latin typeface="Arial"/>
              </a:defRPr>
            </a:pPr>
            <a:r>
              <a:t>Muqobil: qo‘lda yozish yoki tayyor javobni ko‘chirish.</a:t>
            </a:r>
          </a:p>
        </p:txBody>
      </p:sp>
      <p:sp>
        <p:nvSpPr>
          <p:cNvPr id="22" name="TextBox 21"/>
          <p:cNvSpPr txBox="1"/>
          <p:nvPr/>
        </p:nvSpPr>
        <p:spPr>
          <a:xfrm>
            <a:off x="563880" y="5760720"/>
            <a:ext cx="10668000" cy="312420"/>
          </a:xfrm>
          <a:prstGeom prst="rect">
            <a:avLst/>
          </a:prstGeom>
          <a:noFill/>
        </p:spPr>
        <p:txBody>
          <a:bodyPr wrap="none" lIns="0" rIns="0" tIns="0" bIns="0">
            <a:spAutoFit/>
          </a:bodyPr>
          <a:lstStyle/>
          <a:p>
            <a:pPr>
              <a:lnSpc>
                <a:spcPts val="1859"/>
              </a:lnSpc>
              <a:spcAft>
                <a:spcPts val="0"/>
              </a:spcAft>
              <a:defRPr sz="1500" b="0">
                <a:solidFill>
                  <a:srgbClr val="72E3BB"/>
                </a:solidFill>
                <a:latin typeface="Arial"/>
              </a:defRPr>
            </a:pPr>
            <a:r>
              <a:t>Tekshiriladigan ustunlik: kamroq qo‘lda ishlash, to‘g‘ri javob saqlangan holda.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A28"/>
        </a:solidFill>
        <a:effectLst/>
      </p:bgPr>
    </p:bg>
    <p:spTree>
      <p:nvGrpSpPr>
        <p:cNvPr id="1" name=""/>
        <p:cNvGrpSpPr/>
        <p:nvPr/>
      </p:nvGrpSpPr>
      <p:grpSpPr/>
      <p:sp>
        <p:nvSpPr>
          <p:cNvPr id="2" name="Rectangle 1"/>
          <p:cNvSpPr/>
          <p:nvPr/>
        </p:nvSpPr>
        <p:spPr>
          <a:xfrm>
            <a:off x="548640" y="464820"/>
            <a:ext cx="76200" cy="198120"/>
          </a:xfrm>
          <a:prstGeom prst="rect">
            <a:avLst/>
          </a:prstGeom>
          <a:solidFill>
            <a:srgbClr val="72E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457200"/>
            <a:ext cx="6096000" cy="274320"/>
          </a:xfrm>
          <a:prstGeom prst="rect">
            <a:avLst/>
          </a:prstGeom>
          <a:noFill/>
        </p:spPr>
        <p:txBody>
          <a:bodyPr wrap="none" lIns="0" rIns="0" tIns="0" bIns="0">
            <a:spAutoFit/>
          </a:bodyPr>
          <a:lstStyle/>
          <a:p>
            <a:pPr>
              <a:lnSpc>
                <a:spcPts val="1560"/>
              </a:lnSpc>
              <a:spcAft>
                <a:spcPts val="0"/>
              </a:spcAft>
              <a:defRPr sz="1260" b="1">
                <a:solidFill>
                  <a:srgbClr val="72E3BB"/>
                </a:solidFill>
                <a:latin typeface="Arial"/>
              </a:defRPr>
            </a:pPr>
            <a:r>
              <a:t>CODDYHELPER / DALIL VA METRIKALAR</a:t>
            </a:r>
          </a:p>
        </p:txBody>
      </p:sp>
      <p:sp>
        <p:nvSpPr>
          <p:cNvPr id="4" name="TextBox 3"/>
          <p:cNvSpPr txBox="1"/>
          <p:nvPr/>
        </p:nvSpPr>
        <p:spPr>
          <a:xfrm>
            <a:off x="9829800" y="472440"/>
            <a:ext cx="1905000" cy="274320"/>
          </a:xfrm>
          <a:prstGeom prst="rect">
            <a:avLst/>
          </a:prstGeom>
          <a:noFill/>
        </p:spPr>
        <p:txBody>
          <a:bodyPr wrap="none" lIns="0" rIns="0" tIns="0" bIns="0">
            <a:spAutoFit/>
          </a:bodyPr>
          <a:lstStyle/>
          <a:p>
            <a:pPr>
              <a:lnSpc>
                <a:spcPts val="1560"/>
              </a:lnSpc>
              <a:spcAft>
                <a:spcPts val="0"/>
              </a:spcAft>
              <a:defRPr sz="1260" b="0">
                <a:solidFill>
                  <a:srgbClr val="A9B8C9"/>
                </a:solidFill>
                <a:latin typeface="Arial"/>
              </a:defRPr>
            </a:pPr>
            <a:r>
              <a:t>0:55–1:35</a:t>
            </a:r>
          </a:p>
        </p:txBody>
      </p:sp>
      <p:sp>
        <p:nvSpPr>
          <p:cNvPr id="5" name="TextBox 4"/>
          <p:cNvSpPr txBox="1"/>
          <p:nvPr/>
        </p:nvSpPr>
        <p:spPr>
          <a:xfrm>
            <a:off x="548640" y="1051560"/>
            <a:ext cx="11049000" cy="1325880"/>
          </a:xfrm>
          <a:prstGeom prst="rect">
            <a:avLst/>
          </a:prstGeom>
          <a:noFill/>
        </p:spPr>
        <p:txBody>
          <a:bodyPr wrap="none" lIns="0" rIns="0" tIns="0" bIns="0">
            <a:spAutoFit/>
          </a:bodyPr>
          <a:lstStyle/>
          <a:p>
            <a:pPr>
              <a:lnSpc>
                <a:spcPts val="4920"/>
              </a:lnSpc>
              <a:spcAft>
                <a:spcPts val="0"/>
              </a:spcAft>
              <a:defRPr sz="3960" b="1">
                <a:solidFill>
                  <a:srgbClr val="F5F7FA"/>
                </a:solidFill>
                <a:latin typeface="Arial"/>
              </a:defRPr>
            </a:pPr>
            <a:r>
              <a:t>Kod bor. Foydani</a:t>
            </a:r>
          </a:p>
          <a:p>
            <a:pPr>
              <a:lnSpc>
                <a:spcPts val="4920"/>
              </a:lnSpc>
              <a:spcAft>
                <a:spcPts val="0"/>
              </a:spcAft>
              <a:defRPr sz="3960" b="1">
                <a:solidFill>
                  <a:srgbClr val="F5F7FA"/>
                </a:solidFill>
                <a:latin typeface="Arial"/>
              </a:defRPr>
            </a:pPr>
            <a:r>
              <a:t>pilotda o‘lchaymiz.</a:t>
            </a:r>
          </a:p>
        </p:txBody>
      </p:sp>
      <p:sp>
        <p:nvSpPr>
          <p:cNvPr id="6" name="Rectangle 5"/>
          <p:cNvSpPr/>
          <p:nvPr/>
        </p:nvSpPr>
        <p:spPr>
          <a:xfrm>
            <a:off x="548640" y="6278880"/>
            <a:ext cx="11087100" cy="15240"/>
          </a:xfrm>
          <a:prstGeom prst="rect">
            <a:avLst/>
          </a:prstGeom>
          <a:solidFill>
            <a:srgbClr val="2A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3880" y="6461760"/>
            <a:ext cx="91440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LESSON 6 · PITCH &amp; DEMO DAY</a:t>
            </a:r>
          </a:p>
        </p:txBody>
      </p:sp>
      <p:sp>
        <p:nvSpPr>
          <p:cNvPr id="8" name="TextBox 7"/>
          <p:cNvSpPr txBox="1"/>
          <p:nvPr/>
        </p:nvSpPr>
        <p:spPr>
          <a:xfrm>
            <a:off x="10934700" y="6461760"/>
            <a:ext cx="9144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03 / 06</a:t>
            </a:r>
          </a:p>
        </p:txBody>
      </p:sp>
      <p:sp>
        <p:nvSpPr>
          <p:cNvPr id="9" name="TextBox 8"/>
          <p:cNvSpPr txBox="1"/>
          <p:nvPr/>
        </p:nvSpPr>
        <p:spPr>
          <a:xfrm>
            <a:off x="563880" y="2438400"/>
            <a:ext cx="10896600" cy="320040"/>
          </a:xfrm>
          <a:prstGeom prst="rect">
            <a:avLst/>
          </a:prstGeom>
          <a:noFill/>
        </p:spPr>
        <p:txBody>
          <a:bodyPr wrap="none" lIns="0" rIns="0" tIns="0" bIns="0">
            <a:spAutoFit/>
          </a:bodyPr>
          <a:lstStyle/>
          <a:p>
            <a:pPr>
              <a:lnSpc>
                <a:spcPts val="1920"/>
              </a:lnSpc>
              <a:spcAft>
                <a:spcPts val="0"/>
              </a:spcAft>
              <a:defRPr sz="1560" b="0">
                <a:solidFill>
                  <a:srgbClr val="A9B8C9"/>
                </a:solidFill>
                <a:latin typeface="Arial"/>
              </a:defRPr>
            </a:pPr>
            <a:r>
              <a:t>Akkaunt ulash, biznes ma’lumotlari, avtomatik javob va eskalatsiya mexanizmlari mavjud.</a:t>
            </a:r>
          </a:p>
        </p:txBody>
      </p:sp>
      <p:sp>
        <p:nvSpPr>
          <p:cNvPr id="10" name="Rectangle 9"/>
          <p:cNvSpPr/>
          <p:nvPr/>
        </p:nvSpPr>
        <p:spPr>
          <a:xfrm>
            <a:off x="563880" y="2971800"/>
            <a:ext cx="11064240" cy="769620"/>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4380" y="3147060"/>
            <a:ext cx="3200400" cy="304800"/>
          </a:xfrm>
          <a:prstGeom prst="rect">
            <a:avLst/>
          </a:prstGeom>
          <a:noFill/>
        </p:spPr>
        <p:txBody>
          <a:bodyPr wrap="none" lIns="0" rIns="0" tIns="0" bIns="0">
            <a:spAutoFit/>
          </a:bodyPr>
          <a:lstStyle/>
          <a:p>
            <a:pPr>
              <a:lnSpc>
                <a:spcPts val="1800"/>
              </a:lnSpc>
              <a:spcAft>
                <a:spcPts val="0"/>
              </a:spcAft>
              <a:defRPr sz="1439" b="1">
                <a:solidFill>
                  <a:srgbClr val="72E3BB"/>
                </a:solidFill>
                <a:latin typeface="Arial"/>
              </a:defRPr>
            </a:pPr>
            <a:r>
              <a:t>FOYDA / HAR HAFTA</a:t>
            </a:r>
          </a:p>
        </p:txBody>
      </p:sp>
      <p:sp>
        <p:nvSpPr>
          <p:cNvPr id="12" name="TextBox 11"/>
          <p:cNvSpPr txBox="1"/>
          <p:nvPr/>
        </p:nvSpPr>
        <p:spPr>
          <a:xfrm>
            <a:off x="4023360" y="3139440"/>
            <a:ext cx="7368540" cy="327660"/>
          </a:xfrm>
          <a:prstGeom prst="rect">
            <a:avLst/>
          </a:prstGeom>
          <a:noFill/>
        </p:spPr>
        <p:txBody>
          <a:bodyPr wrap="none" lIns="0" rIns="0" tIns="0" bIns="0">
            <a:spAutoFit/>
          </a:bodyPr>
          <a:lstStyle/>
          <a:p>
            <a:pPr>
              <a:lnSpc>
                <a:spcPts val="1980"/>
              </a:lnSpc>
              <a:spcAft>
                <a:spcPts val="0"/>
              </a:spcAft>
              <a:defRPr sz="1620" b="0">
                <a:solidFill>
                  <a:srgbClr val="F5F7FA"/>
                </a:solidFill>
                <a:latin typeface="Arial"/>
              </a:defRPr>
            </a:pPr>
            <a:r>
              <a:t>Mentor tuzatishisiz to‘g‘ri hal qilingan suhbatlar soni.</a:t>
            </a:r>
          </a:p>
        </p:txBody>
      </p:sp>
      <p:sp>
        <p:nvSpPr>
          <p:cNvPr id="13" name="Rectangle 12"/>
          <p:cNvSpPr/>
          <p:nvPr/>
        </p:nvSpPr>
        <p:spPr>
          <a:xfrm>
            <a:off x="563880" y="3886200"/>
            <a:ext cx="11064240" cy="769620"/>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 y="4061460"/>
            <a:ext cx="3200400" cy="304800"/>
          </a:xfrm>
          <a:prstGeom prst="rect">
            <a:avLst/>
          </a:prstGeom>
          <a:noFill/>
        </p:spPr>
        <p:txBody>
          <a:bodyPr wrap="none" lIns="0" rIns="0" tIns="0" bIns="0">
            <a:spAutoFit/>
          </a:bodyPr>
          <a:lstStyle/>
          <a:p>
            <a:pPr>
              <a:lnSpc>
                <a:spcPts val="1800"/>
              </a:lnSpc>
              <a:spcAft>
                <a:spcPts val="0"/>
              </a:spcAft>
              <a:defRPr sz="1439" b="1">
                <a:solidFill>
                  <a:srgbClr val="72E3BB"/>
                </a:solidFill>
                <a:latin typeface="Arial"/>
              </a:defRPr>
            </a:pPr>
            <a:r>
              <a:t>BIRINCHI FOYDA / 7 KUN</a:t>
            </a:r>
          </a:p>
        </p:txBody>
      </p:sp>
      <p:sp>
        <p:nvSpPr>
          <p:cNvPr id="15" name="TextBox 14"/>
          <p:cNvSpPr txBox="1"/>
          <p:nvPr/>
        </p:nvSpPr>
        <p:spPr>
          <a:xfrm>
            <a:off x="4023360" y="4053840"/>
            <a:ext cx="7368540" cy="327660"/>
          </a:xfrm>
          <a:prstGeom prst="rect">
            <a:avLst/>
          </a:prstGeom>
          <a:noFill/>
        </p:spPr>
        <p:txBody>
          <a:bodyPr wrap="none" lIns="0" rIns="0" tIns="0" bIns="0">
            <a:spAutoFit/>
          </a:bodyPr>
          <a:lstStyle/>
          <a:p>
            <a:pPr>
              <a:lnSpc>
                <a:spcPts val="1980"/>
              </a:lnSpc>
              <a:spcAft>
                <a:spcPts val="0"/>
              </a:spcAft>
              <a:defRPr sz="1620" b="0">
                <a:solidFill>
                  <a:srgbClr val="F5F7FA"/>
                </a:solidFill>
                <a:latin typeface="Arial"/>
              </a:defRPr>
            </a:pPr>
            <a:r>
              <a:t>Birinchi foydali suhbatga erishgan mentorlar / taklif qilingan mentorlar.</a:t>
            </a:r>
          </a:p>
        </p:txBody>
      </p:sp>
      <p:sp>
        <p:nvSpPr>
          <p:cNvPr id="16" name="Rectangle 15"/>
          <p:cNvSpPr/>
          <p:nvPr/>
        </p:nvSpPr>
        <p:spPr>
          <a:xfrm>
            <a:off x="563880" y="4800600"/>
            <a:ext cx="11064240" cy="769620"/>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380" y="4975860"/>
            <a:ext cx="3200400" cy="304800"/>
          </a:xfrm>
          <a:prstGeom prst="rect">
            <a:avLst/>
          </a:prstGeom>
          <a:noFill/>
        </p:spPr>
        <p:txBody>
          <a:bodyPr wrap="none" lIns="0" rIns="0" tIns="0" bIns="0">
            <a:spAutoFit/>
          </a:bodyPr>
          <a:lstStyle/>
          <a:p>
            <a:pPr>
              <a:lnSpc>
                <a:spcPts val="1800"/>
              </a:lnSpc>
              <a:spcAft>
                <a:spcPts val="0"/>
              </a:spcAft>
              <a:defRPr sz="1439" b="1">
                <a:solidFill>
                  <a:srgbClr val="72E3BB"/>
                </a:solidFill>
                <a:latin typeface="Arial"/>
              </a:defRPr>
            </a:pPr>
            <a:r>
              <a:t>QAYTISH / 2-HAFTA</a:t>
            </a:r>
          </a:p>
        </p:txBody>
      </p:sp>
      <p:sp>
        <p:nvSpPr>
          <p:cNvPr id="18" name="TextBox 17"/>
          <p:cNvSpPr txBox="1"/>
          <p:nvPr/>
        </p:nvSpPr>
        <p:spPr>
          <a:xfrm>
            <a:off x="4023360" y="4968240"/>
            <a:ext cx="7368540" cy="327660"/>
          </a:xfrm>
          <a:prstGeom prst="rect">
            <a:avLst/>
          </a:prstGeom>
          <a:noFill/>
        </p:spPr>
        <p:txBody>
          <a:bodyPr wrap="none" lIns="0" rIns="0" tIns="0" bIns="0">
            <a:spAutoFit/>
          </a:bodyPr>
          <a:lstStyle/>
          <a:p>
            <a:pPr>
              <a:lnSpc>
                <a:spcPts val="1980"/>
              </a:lnSpc>
              <a:spcAft>
                <a:spcPts val="0"/>
              </a:spcAft>
              <a:defRPr sz="1620" b="0">
                <a:solidFill>
                  <a:srgbClr val="F5F7FA"/>
                </a:solidFill>
                <a:latin typeface="Arial"/>
              </a:defRPr>
            </a:pPr>
            <a:r>
              <a:t>2-haftada ham foyda olganlar / 1-haftada foyda olgan mentorlar.</a:t>
            </a:r>
          </a:p>
        </p:txBody>
      </p:sp>
      <p:sp>
        <p:nvSpPr>
          <p:cNvPr id="19" name="TextBox 18"/>
          <p:cNvSpPr txBox="1"/>
          <p:nvPr/>
        </p:nvSpPr>
        <p:spPr>
          <a:xfrm>
            <a:off x="563880" y="5806440"/>
            <a:ext cx="11049000" cy="281940"/>
          </a:xfrm>
          <a:prstGeom prst="rect">
            <a:avLst/>
          </a:prstGeom>
          <a:noFill/>
        </p:spPr>
        <p:txBody>
          <a:bodyPr wrap="none" lIns="0" rIns="0" tIns="0" bIns="0">
            <a:spAutoFit/>
          </a:bodyPr>
          <a:lstStyle/>
          <a:p>
            <a:pPr>
              <a:lnSpc>
                <a:spcPts val="1620"/>
              </a:lnSpc>
              <a:spcAft>
                <a:spcPts val="0"/>
              </a:spcAft>
              <a:defRPr sz="1320" b="0">
                <a:solidFill>
                  <a:srgbClr val="A9B8C9"/>
                </a:solidFill>
                <a:latin typeface="Arial"/>
              </a:defRPr>
            </a:pPr>
            <a:r>
              <a:t>Hozircha o‘lchanmagan. Manba: pilot suhbatlari, mentor tekshiruvi va takliflar ro‘yxati.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A28"/>
        </a:solidFill>
        <a:effectLst/>
      </p:bgPr>
    </p:bg>
    <p:spTree>
      <p:nvGrpSpPr>
        <p:cNvPr id="1" name=""/>
        <p:cNvGrpSpPr/>
        <p:nvPr/>
      </p:nvGrpSpPr>
      <p:grpSpPr/>
      <p:sp>
        <p:nvSpPr>
          <p:cNvPr id="2" name="Rectangle 1"/>
          <p:cNvSpPr/>
          <p:nvPr/>
        </p:nvSpPr>
        <p:spPr>
          <a:xfrm>
            <a:off x="548640" y="464820"/>
            <a:ext cx="76200" cy="198120"/>
          </a:xfrm>
          <a:prstGeom prst="rect">
            <a:avLst/>
          </a:prstGeom>
          <a:solidFill>
            <a:srgbClr val="72E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457200"/>
            <a:ext cx="6096000" cy="274320"/>
          </a:xfrm>
          <a:prstGeom prst="rect">
            <a:avLst/>
          </a:prstGeom>
          <a:noFill/>
        </p:spPr>
        <p:txBody>
          <a:bodyPr wrap="none" lIns="0" rIns="0" tIns="0" bIns="0">
            <a:spAutoFit/>
          </a:bodyPr>
          <a:lstStyle/>
          <a:p>
            <a:pPr>
              <a:lnSpc>
                <a:spcPts val="1560"/>
              </a:lnSpc>
              <a:spcAft>
                <a:spcPts val="0"/>
              </a:spcAft>
              <a:defRPr sz="1260" b="1">
                <a:solidFill>
                  <a:srgbClr val="72E3BB"/>
                </a:solidFill>
                <a:latin typeface="Arial"/>
              </a:defRPr>
            </a:pPr>
            <a:r>
              <a:t>CODDYHELPER / BIZNES-MODEL</a:t>
            </a:r>
          </a:p>
        </p:txBody>
      </p:sp>
      <p:sp>
        <p:nvSpPr>
          <p:cNvPr id="4" name="TextBox 3"/>
          <p:cNvSpPr txBox="1"/>
          <p:nvPr/>
        </p:nvSpPr>
        <p:spPr>
          <a:xfrm>
            <a:off x="9829800" y="472440"/>
            <a:ext cx="1905000" cy="274320"/>
          </a:xfrm>
          <a:prstGeom prst="rect">
            <a:avLst/>
          </a:prstGeom>
          <a:noFill/>
        </p:spPr>
        <p:txBody>
          <a:bodyPr wrap="none" lIns="0" rIns="0" tIns="0" bIns="0">
            <a:spAutoFit/>
          </a:bodyPr>
          <a:lstStyle/>
          <a:p>
            <a:pPr>
              <a:lnSpc>
                <a:spcPts val="1560"/>
              </a:lnSpc>
              <a:spcAft>
                <a:spcPts val="0"/>
              </a:spcAft>
              <a:defRPr sz="1260" b="0">
                <a:solidFill>
                  <a:srgbClr val="A9B8C9"/>
                </a:solidFill>
                <a:latin typeface="Arial"/>
              </a:defRPr>
            </a:pPr>
            <a:r>
              <a:t>1:35–1:50</a:t>
            </a:r>
          </a:p>
        </p:txBody>
      </p:sp>
      <p:sp>
        <p:nvSpPr>
          <p:cNvPr id="5" name="TextBox 4"/>
          <p:cNvSpPr txBox="1"/>
          <p:nvPr/>
        </p:nvSpPr>
        <p:spPr>
          <a:xfrm>
            <a:off x="548640" y="1051560"/>
            <a:ext cx="11049000" cy="701040"/>
          </a:xfrm>
          <a:prstGeom prst="rect">
            <a:avLst/>
          </a:prstGeom>
          <a:noFill/>
        </p:spPr>
        <p:txBody>
          <a:bodyPr wrap="none" lIns="0" rIns="0" tIns="0" bIns="0">
            <a:spAutoFit/>
          </a:bodyPr>
          <a:lstStyle/>
          <a:p>
            <a:pPr>
              <a:lnSpc>
                <a:spcPts val="4920"/>
              </a:lnSpc>
              <a:spcAft>
                <a:spcPts val="0"/>
              </a:spcAft>
              <a:defRPr sz="3960" b="1">
                <a:solidFill>
                  <a:srgbClr val="F5F7FA"/>
                </a:solidFill>
                <a:latin typeface="Arial"/>
              </a:defRPr>
            </a:pPr>
            <a:r>
              <a:t>Oylik obuna</a:t>
            </a:r>
          </a:p>
        </p:txBody>
      </p:sp>
      <p:sp>
        <p:nvSpPr>
          <p:cNvPr id="6" name="Rectangle 5"/>
          <p:cNvSpPr/>
          <p:nvPr/>
        </p:nvSpPr>
        <p:spPr>
          <a:xfrm>
            <a:off x="548640" y="6278880"/>
            <a:ext cx="11087100" cy="15240"/>
          </a:xfrm>
          <a:prstGeom prst="rect">
            <a:avLst/>
          </a:prstGeom>
          <a:solidFill>
            <a:srgbClr val="2A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3880" y="6461760"/>
            <a:ext cx="91440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LESSON 6 · PITCH &amp; DEMO DAY</a:t>
            </a:r>
          </a:p>
        </p:txBody>
      </p:sp>
      <p:sp>
        <p:nvSpPr>
          <p:cNvPr id="8" name="TextBox 7"/>
          <p:cNvSpPr txBox="1"/>
          <p:nvPr/>
        </p:nvSpPr>
        <p:spPr>
          <a:xfrm>
            <a:off x="10934700" y="6461760"/>
            <a:ext cx="9144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04 / 06</a:t>
            </a:r>
          </a:p>
        </p:txBody>
      </p:sp>
      <p:sp>
        <p:nvSpPr>
          <p:cNvPr id="9" name="Rectangle 8"/>
          <p:cNvSpPr/>
          <p:nvPr/>
        </p:nvSpPr>
        <p:spPr>
          <a:xfrm>
            <a:off x="563880" y="2514600"/>
            <a:ext cx="5181600" cy="3009900"/>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 y="2804160"/>
            <a:ext cx="4419600" cy="327660"/>
          </a:xfrm>
          <a:prstGeom prst="rect">
            <a:avLst/>
          </a:prstGeom>
          <a:noFill/>
        </p:spPr>
        <p:txBody>
          <a:bodyPr wrap="none" lIns="0" rIns="0" tIns="0" bIns="0">
            <a:spAutoFit/>
          </a:bodyPr>
          <a:lstStyle/>
          <a:p>
            <a:pPr>
              <a:lnSpc>
                <a:spcPts val="1980"/>
              </a:lnSpc>
              <a:spcAft>
                <a:spcPts val="0"/>
              </a:spcAft>
              <a:defRPr sz="1620" b="1">
                <a:solidFill>
                  <a:srgbClr val="72E3BB"/>
                </a:solidFill>
                <a:latin typeface="Arial"/>
              </a:defRPr>
            </a:pPr>
            <a:r>
              <a:t>PRO</a:t>
            </a:r>
          </a:p>
        </p:txBody>
      </p:sp>
      <p:sp>
        <p:nvSpPr>
          <p:cNvPr id="11" name="TextBox 10"/>
          <p:cNvSpPr txBox="1"/>
          <p:nvPr/>
        </p:nvSpPr>
        <p:spPr>
          <a:xfrm>
            <a:off x="845820" y="3375660"/>
            <a:ext cx="4572000" cy="1043940"/>
          </a:xfrm>
          <a:prstGeom prst="rect">
            <a:avLst/>
          </a:prstGeom>
          <a:noFill/>
        </p:spPr>
        <p:txBody>
          <a:bodyPr wrap="none" lIns="0" rIns="0" tIns="0" bIns="0">
            <a:spAutoFit/>
          </a:bodyPr>
          <a:lstStyle/>
          <a:p>
            <a:pPr>
              <a:lnSpc>
                <a:spcPts val="7620"/>
              </a:lnSpc>
              <a:spcAft>
                <a:spcPts val="0"/>
              </a:spcAft>
              <a:defRPr sz="6120" b="1">
                <a:solidFill>
                  <a:srgbClr val="F5F7FA"/>
                </a:solidFill>
                <a:latin typeface="Arial"/>
              </a:defRPr>
            </a:pPr>
            <a:r>
              <a:t>99 000</a:t>
            </a:r>
          </a:p>
        </p:txBody>
      </p:sp>
      <p:sp>
        <p:nvSpPr>
          <p:cNvPr id="12" name="TextBox 11"/>
          <p:cNvSpPr txBox="1"/>
          <p:nvPr/>
        </p:nvSpPr>
        <p:spPr>
          <a:xfrm>
            <a:off x="883920" y="4373880"/>
            <a:ext cx="4419600" cy="457200"/>
          </a:xfrm>
          <a:prstGeom prst="rect">
            <a:avLst/>
          </a:prstGeom>
          <a:noFill/>
        </p:spPr>
        <p:txBody>
          <a:bodyPr wrap="none" lIns="0" rIns="0" tIns="0" bIns="0">
            <a:spAutoFit/>
          </a:bodyPr>
          <a:lstStyle/>
          <a:p>
            <a:pPr>
              <a:lnSpc>
                <a:spcPts val="3000"/>
              </a:lnSpc>
              <a:spcAft>
                <a:spcPts val="0"/>
              </a:spcAft>
              <a:defRPr sz="2400" b="0">
                <a:solidFill>
                  <a:srgbClr val="A9B8C9"/>
                </a:solidFill>
                <a:latin typeface="Arial"/>
              </a:defRPr>
            </a:pPr>
            <a:r>
              <a:t>so‘m / oy</a:t>
            </a:r>
          </a:p>
        </p:txBody>
      </p:sp>
      <p:sp>
        <p:nvSpPr>
          <p:cNvPr id="13" name="TextBox 12"/>
          <p:cNvSpPr txBox="1"/>
          <p:nvPr/>
        </p:nvSpPr>
        <p:spPr>
          <a:xfrm>
            <a:off x="6278880" y="2720340"/>
            <a:ext cx="5143500" cy="388620"/>
          </a:xfrm>
          <a:prstGeom prst="rect">
            <a:avLst/>
          </a:prstGeom>
          <a:noFill/>
        </p:spPr>
        <p:txBody>
          <a:bodyPr wrap="none" lIns="0" rIns="0" tIns="0" bIns="0">
            <a:spAutoFit/>
          </a:bodyPr>
          <a:lstStyle/>
          <a:p>
            <a:pPr>
              <a:lnSpc>
                <a:spcPts val="2460"/>
              </a:lnSpc>
              <a:spcAft>
                <a:spcPts val="0"/>
              </a:spcAft>
              <a:defRPr sz="1980" b="1">
                <a:solidFill>
                  <a:srgbClr val="72E3BB"/>
                </a:solidFill>
                <a:latin typeface="Arial"/>
              </a:defRPr>
            </a:pPr>
            <a:r>
              <a:t>Kim to‘laydi?</a:t>
            </a:r>
          </a:p>
        </p:txBody>
      </p:sp>
      <p:sp>
        <p:nvSpPr>
          <p:cNvPr id="14" name="TextBox 13"/>
          <p:cNvSpPr txBox="1"/>
          <p:nvPr/>
        </p:nvSpPr>
        <p:spPr>
          <a:xfrm>
            <a:off x="6278880" y="3169920"/>
            <a:ext cx="5143500" cy="441960"/>
          </a:xfrm>
          <a:prstGeom prst="rect">
            <a:avLst/>
          </a:prstGeom>
          <a:noFill/>
        </p:spPr>
        <p:txBody>
          <a:bodyPr wrap="none" lIns="0" rIns="0" tIns="0" bIns="0">
            <a:spAutoFit/>
          </a:bodyPr>
          <a:lstStyle/>
          <a:p>
            <a:pPr>
              <a:lnSpc>
                <a:spcPts val="2879"/>
              </a:lnSpc>
              <a:spcAft>
                <a:spcPts val="0"/>
              </a:spcAft>
              <a:defRPr sz="2340" b="1">
                <a:solidFill>
                  <a:srgbClr val="F5F7FA"/>
                </a:solidFill>
                <a:latin typeface="Arial"/>
              </a:defRPr>
            </a:pPr>
            <a:r>
              <a:t>Mentor yoki o‘quv markazi egasi.</a:t>
            </a:r>
          </a:p>
        </p:txBody>
      </p:sp>
      <p:sp>
        <p:nvSpPr>
          <p:cNvPr id="15" name="TextBox 14"/>
          <p:cNvSpPr txBox="1"/>
          <p:nvPr/>
        </p:nvSpPr>
        <p:spPr>
          <a:xfrm>
            <a:off x="6278880" y="4130040"/>
            <a:ext cx="5143500" cy="388620"/>
          </a:xfrm>
          <a:prstGeom prst="rect">
            <a:avLst/>
          </a:prstGeom>
          <a:noFill/>
        </p:spPr>
        <p:txBody>
          <a:bodyPr wrap="none" lIns="0" rIns="0" tIns="0" bIns="0">
            <a:spAutoFit/>
          </a:bodyPr>
          <a:lstStyle/>
          <a:p>
            <a:pPr>
              <a:lnSpc>
                <a:spcPts val="2460"/>
              </a:lnSpc>
              <a:spcAft>
                <a:spcPts val="0"/>
              </a:spcAft>
              <a:defRPr sz="1980" b="1">
                <a:solidFill>
                  <a:srgbClr val="72E3BB"/>
                </a:solidFill>
                <a:latin typeface="Arial"/>
              </a:defRPr>
            </a:pPr>
            <a:r>
              <a:t>Nima uchun?</a:t>
            </a:r>
          </a:p>
        </p:txBody>
      </p:sp>
      <p:sp>
        <p:nvSpPr>
          <p:cNvPr id="16" name="TextBox 15"/>
          <p:cNvSpPr txBox="1"/>
          <p:nvPr/>
        </p:nvSpPr>
        <p:spPr>
          <a:xfrm>
            <a:off x="6278880" y="4579620"/>
            <a:ext cx="5143500" cy="716280"/>
          </a:xfrm>
          <a:prstGeom prst="rect">
            <a:avLst/>
          </a:prstGeom>
          <a:noFill/>
        </p:spPr>
        <p:txBody>
          <a:bodyPr wrap="none" lIns="0" rIns="0" tIns="0" bIns="0">
            <a:spAutoFit/>
          </a:bodyPr>
          <a:lstStyle/>
          <a:p>
            <a:pPr>
              <a:lnSpc>
                <a:spcPts val="2520"/>
              </a:lnSpc>
              <a:spcAft>
                <a:spcPts val="0"/>
              </a:spcAft>
              <a:defRPr sz="2039" b="0">
                <a:solidFill>
                  <a:srgbClr val="F5F7FA"/>
                </a:solidFill>
                <a:latin typeface="Arial"/>
              </a:defRPr>
            </a:pPr>
            <a:r>
              <a:t>Takroriy yozishmalar yukini kamaytirish</a:t>
            </a:r>
          </a:p>
          <a:p>
            <a:pPr>
              <a:lnSpc>
                <a:spcPts val="2520"/>
              </a:lnSpc>
              <a:spcAft>
                <a:spcPts val="0"/>
              </a:spcAft>
              <a:defRPr sz="2039" b="0">
                <a:solidFill>
                  <a:srgbClr val="F5F7FA"/>
                </a:solidFill>
                <a:latin typeface="Arial"/>
              </a:defRPr>
            </a:pPr>
            <a:r>
              <a:t>uchun.</a:t>
            </a:r>
          </a:p>
        </p:txBody>
      </p:sp>
      <p:sp>
        <p:nvSpPr>
          <p:cNvPr id="17" name="TextBox 16"/>
          <p:cNvSpPr txBox="1"/>
          <p:nvPr/>
        </p:nvSpPr>
        <p:spPr>
          <a:xfrm>
            <a:off x="563880" y="5829300"/>
            <a:ext cx="11049000" cy="289560"/>
          </a:xfrm>
          <a:prstGeom prst="rect">
            <a:avLst/>
          </a:prstGeom>
          <a:noFill/>
        </p:spPr>
        <p:txBody>
          <a:bodyPr wrap="none" lIns="0" rIns="0" tIns="0" bIns="0">
            <a:spAutoFit/>
          </a:bodyPr>
          <a:lstStyle/>
          <a:p>
            <a:pPr>
              <a:lnSpc>
                <a:spcPts val="1680"/>
              </a:lnSpc>
              <a:spcAft>
                <a:spcPts val="0"/>
              </a:spcAft>
              <a:defRPr sz="1380" b="0">
                <a:solidFill>
                  <a:srgbClr val="A9B8C9"/>
                </a:solidFill>
                <a:latin typeface="Arial"/>
              </a:defRPr>
            </a:pPr>
            <a:r>
              <a:t>Joriy tarif konfiguratsiyasi. Shu narxda to‘lashga tayyorlik pilotda tekshiriladi.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A28"/>
        </a:solidFill>
        <a:effectLst/>
      </p:bgPr>
    </p:bg>
    <p:spTree>
      <p:nvGrpSpPr>
        <p:cNvPr id="1" name=""/>
        <p:cNvGrpSpPr/>
        <p:nvPr/>
      </p:nvGrpSpPr>
      <p:grpSpPr/>
      <p:sp>
        <p:nvSpPr>
          <p:cNvPr id="2" name="Rectangle 1"/>
          <p:cNvSpPr/>
          <p:nvPr/>
        </p:nvSpPr>
        <p:spPr>
          <a:xfrm>
            <a:off x="548640" y="464820"/>
            <a:ext cx="76200" cy="198120"/>
          </a:xfrm>
          <a:prstGeom prst="rect">
            <a:avLst/>
          </a:prstGeom>
          <a:solidFill>
            <a:srgbClr val="72E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457200"/>
            <a:ext cx="6096000" cy="274320"/>
          </a:xfrm>
          <a:prstGeom prst="rect">
            <a:avLst/>
          </a:prstGeom>
          <a:noFill/>
        </p:spPr>
        <p:txBody>
          <a:bodyPr wrap="none" lIns="0" rIns="0" tIns="0" bIns="0">
            <a:spAutoFit/>
          </a:bodyPr>
          <a:lstStyle/>
          <a:p>
            <a:pPr>
              <a:lnSpc>
                <a:spcPts val="1560"/>
              </a:lnSpc>
              <a:spcAft>
                <a:spcPts val="0"/>
              </a:spcAft>
              <a:defRPr sz="1260" b="1">
                <a:solidFill>
                  <a:srgbClr val="72E3BB"/>
                </a:solidFill>
                <a:latin typeface="Arial"/>
              </a:defRPr>
            </a:pPr>
            <a:r>
              <a:t>CODDYHELPER / BITTA DEMO YO‘LI</a:t>
            </a:r>
          </a:p>
        </p:txBody>
      </p:sp>
      <p:sp>
        <p:nvSpPr>
          <p:cNvPr id="4" name="TextBox 3"/>
          <p:cNvSpPr txBox="1"/>
          <p:nvPr/>
        </p:nvSpPr>
        <p:spPr>
          <a:xfrm>
            <a:off x="9829800" y="472440"/>
            <a:ext cx="1905000" cy="274320"/>
          </a:xfrm>
          <a:prstGeom prst="rect">
            <a:avLst/>
          </a:prstGeom>
          <a:noFill/>
        </p:spPr>
        <p:txBody>
          <a:bodyPr wrap="none" lIns="0" rIns="0" tIns="0" bIns="0">
            <a:spAutoFit/>
          </a:bodyPr>
          <a:lstStyle/>
          <a:p>
            <a:pPr>
              <a:lnSpc>
                <a:spcPts val="1560"/>
              </a:lnSpc>
              <a:spcAft>
                <a:spcPts val="0"/>
              </a:spcAft>
              <a:defRPr sz="1260" b="0">
                <a:solidFill>
                  <a:srgbClr val="A9B8C9"/>
                </a:solidFill>
                <a:latin typeface="Arial"/>
              </a:defRPr>
            </a:pPr>
            <a:r>
              <a:t>1:50–2:40</a:t>
            </a:r>
          </a:p>
        </p:txBody>
      </p:sp>
      <p:sp>
        <p:nvSpPr>
          <p:cNvPr id="5" name="TextBox 4"/>
          <p:cNvSpPr txBox="1"/>
          <p:nvPr/>
        </p:nvSpPr>
        <p:spPr>
          <a:xfrm>
            <a:off x="548640" y="1051560"/>
            <a:ext cx="11049000" cy="701040"/>
          </a:xfrm>
          <a:prstGeom prst="rect">
            <a:avLst/>
          </a:prstGeom>
          <a:noFill/>
        </p:spPr>
        <p:txBody>
          <a:bodyPr wrap="none" lIns="0" rIns="0" tIns="0" bIns="0">
            <a:spAutoFit/>
          </a:bodyPr>
          <a:lstStyle/>
          <a:p>
            <a:pPr>
              <a:lnSpc>
                <a:spcPts val="4920"/>
              </a:lnSpc>
              <a:spcAft>
                <a:spcPts val="0"/>
              </a:spcAft>
              <a:defRPr sz="3960" b="1">
                <a:solidFill>
                  <a:srgbClr val="F5F7FA"/>
                </a:solidFill>
                <a:latin typeface="Arial"/>
              </a:defRPr>
            </a:pPr>
            <a:r>
              <a:t>Savol → ma’lumotga tayangan javob</a:t>
            </a:r>
          </a:p>
        </p:txBody>
      </p:sp>
      <p:sp>
        <p:nvSpPr>
          <p:cNvPr id="6" name="Rectangle 5"/>
          <p:cNvSpPr/>
          <p:nvPr/>
        </p:nvSpPr>
        <p:spPr>
          <a:xfrm>
            <a:off x="548640" y="6278880"/>
            <a:ext cx="11087100" cy="15240"/>
          </a:xfrm>
          <a:prstGeom prst="rect">
            <a:avLst/>
          </a:prstGeom>
          <a:solidFill>
            <a:srgbClr val="2A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3880" y="6461760"/>
            <a:ext cx="91440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LESSON 6 · PITCH &amp; DEMO DAY</a:t>
            </a:r>
          </a:p>
        </p:txBody>
      </p:sp>
      <p:sp>
        <p:nvSpPr>
          <p:cNvPr id="8" name="TextBox 7"/>
          <p:cNvSpPr txBox="1"/>
          <p:nvPr/>
        </p:nvSpPr>
        <p:spPr>
          <a:xfrm>
            <a:off x="10934700" y="6461760"/>
            <a:ext cx="9144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05 / 06</a:t>
            </a:r>
          </a:p>
        </p:txBody>
      </p:sp>
      <p:sp>
        <p:nvSpPr>
          <p:cNvPr id="9" name="TextBox 8"/>
          <p:cNvSpPr txBox="1"/>
          <p:nvPr/>
        </p:nvSpPr>
        <p:spPr>
          <a:xfrm>
            <a:off x="563880" y="1943100"/>
            <a:ext cx="10896600" cy="358140"/>
          </a:xfrm>
          <a:prstGeom prst="rect">
            <a:avLst/>
          </a:prstGeom>
          <a:noFill/>
        </p:spPr>
        <p:txBody>
          <a:bodyPr wrap="none" lIns="0" rIns="0" tIns="0" bIns="0">
            <a:spAutoFit/>
          </a:bodyPr>
          <a:lstStyle/>
          <a:p>
            <a:pPr>
              <a:lnSpc>
                <a:spcPts val="2220"/>
              </a:lnSpc>
              <a:spcAft>
                <a:spcPts val="0"/>
              </a:spcAft>
              <a:defRPr sz="1800" b="0">
                <a:solidFill>
                  <a:srgbClr val="A9B8C9"/>
                </a:solidFill>
                <a:latin typeface="Arial"/>
              </a:defRPr>
            </a:pPr>
            <a:r>
              <a:t>Vazifa: mentor band paytda kurs jadvalini bilish.</a:t>
            </a:r>
          </a:p>
        </p:txBody>
      </p:sp>
      <p:sp>
        <p:nvSpPr>
          <p:cNvPr id="10" name="Rectangle 9"/>
          <p:cNvSpPr/>
          <p:nvPr/>
        </p:nvSpPr>
        <p:spPr>
          <a:xfrm>
            <a:off x="563880" y="2590800"/>
            <a:ext cx="4229100" cy="2476500"/>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480" y="2834640"/>
            <a:ext cx="3771900" cy="289560"/>
          </a:xfrm>
          <a:prstGeom prst="rect">
            <a:avLst/>
          </a:prstGeom>
          <a:noFill/>
        </p:spPr>
        <p:txBody>
          <a:bodyPr wrap="none" lIns="0" rIns="0" tIns="0" bIns="0">
            <a:spAutoFit/>
          </a:bodyPr>
          <a:lstStyle/>
          <a:p>
            <a:pPr>
              <a:lnSpc>
                <a:spcPts val="1680"/>
              </a:lnSpc>
              <a:spcAft>
                <a:spcPts val="0"/>
              </a:spcAft>
              <a:defRPr sz="1380" b="1">
                <a:solidFill>
                  <a:srgbClr val="72E3BB"/>
                </a:solidFill>
                <a:latin typeface="Arial"/>
              </a:defRPr>
            </a:pPr>
            <a:r>
              <a:t>OLDINDAN KIRITILGAN BILIM</a:t>
            </a:r>
          </a:p>
        </p:txBody>
      </p:sp>
      <p:sp>
        <p:nvSpPr>
          <p:cNvPr id="12" name="TextBox 11"/>
          <p:cNvSpPr txBox="1"/>
          <p:nvPr/>
        </p:nvSpPr>
        <p:spPr>
          <a:xfrm>
            <a:off x="792480" y="3314700"/>
            <a:ext cx="3733799" cy="1104900"/>
          </a:xfrm>
          <a:prstGeom prst="rect">
            <a:avLst/>
          </a:prstGeom>
          <a:noFill/>
        </p:spPr>
        <p:txBody>
          <a:bodyPr wrap="none" lIns="0" rIns="0" tIns="0" bIns="0">
            <a:spAutoFit/>
          </a:bodyPr>
          <a:lstStyle/>
          <a:p>
            <a:pPr>
              <a:lnSpc>
                <a:spcPts val="2700"/>
              </a:lnSpc>
              <a:spcAft>
                <a:spcPts val="0"/>
              </a:spcAft>
              <a:defRPr sz="2160" b="1">
                <a:solidFill>
                  <a:srgbClr val="F5F7FA"/>
                </a:solidFill>
                <a:latin typeface="Arial"/>
              </a:defRPr>
            </a:pPr>
            <a:r>
              <a:t>Demo Python kursi</a:t>
            </a:r>
          </a:p>
          <a:p>
            <a:pPr>
              <a:lnSpc>
                <a:spcPts val="2700"/>
              </a:lnSpc>
              <a:spcAft>
                <a:spcPts val="0"/>
              </a:spcAft>
              <a:defRPr sz="2160" b="1">
                <a:solidFill>
                  <a:srgbClr val="F5F7FA"/>
                </a:solidFill>
                <a:latin typeface="Arial"/>
              </a:defRPr>
            </a:pPr>
            <a:r>
              <a:t>Seshanba va payshanba</a:t>
            </a:r>
          </a:p>
          <a:p>
            <a:pPr>
              <a:lnSpc>
                <a:spcPts val="2700"/>
              </a:lnSpc>
              <a:spcAft>
                <a:spcPts val="0"/>
              </a:spcAft>
              <a:defRPr sz="2160" b="1">
                <a:solidFill>
                  <a:srgbClr val="F5F7FA"/>
                </a:solidFill>
                <a:latin typeface="Arial"/>
              </a:defRPr>
            </a:pPr>
            <a:r>
              <a:t>18:00</a:t>
            </a:r>
          </a:p>
        </p:txBody>
      </p:sp>
      <p:sp>
        <p:nvSpPr>
          <p:cNvPr id="13" name="Rectangle 12"/>
          <p:cNvSpPr/>
          <p:nvPr/>
        </p:nvSpPr>
        <p:spPr>
          <a:xfrm>
            <a:off x="5212080" y="2590800"/>
            <a:ext cx="6416040" cy="1043940"/>
          </a:xfrm>
          <a:prstGeom prst="rect">
            <a:avLst/>
          </a:prstGeom>
          <a:solidFill>
            <a:srgbClr val="263B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55920" y="2788920"/>
            <a:ext cx="5905500" cy="266700"/>
          </a:xfrm>
          <a:prstGeom prst="rect">
            <a:avLst/>
          </a:prstGeom>
          <a:noFill/>
        </p:spPr>
        <p:txBody>
          <a:bodyPr wrap="none" lIns="0" rIns="0" tIns="0" bIns="0">
            <a:spAutoFit/>
          </a:bodyPr>
          <a:lstStyle/>
          <a:p>
            <a:pPr>
              <a:lnSpc>
                <a:spcPts val="1500"/>
              </a:lnSpc>
              <a:spcAft>
                <a:spcPts val="0"/>
              </a:spcAft>
              <a:defRPr sz="1200" b="1">
                <a:solidFill>
                  <a:srgbClr val="72E3BB"/>
                </a:solidFill>
                <a:latin typeface="Arial"/>
              </a:defRPr>
            </a:pPr>
            <a:r>
              <a:t>SO‘ROVCHI</a:t>
            </a:r>
          </a:p>
        </p:txBody>
      </p:sp>
      <p:sp>
        <p:nvSpPr>
          <p:cNvPr id="15" name="TextBox 14"/>
          <p:cNvSpPr txBox="1"/>
          <p:nvPr/>
        </p:nvSpPr>
        <p:spPr>
          <a:xfrm>
            <a:off x="5455920" y="3086100"/>
            <a:ext cx="5905500" cy="350520"/>
          </a:xfrm>
          <a:prstGeom prst="rect">
            <a:avLst/>
          </a:prstGeom>
          <a:noFill/>
        </p:spPr>
        <p:txBody>
          <a:bodyPr wrap="none" lIns="0" rIns="0" tIns="0" bIns="0">
            <a:spAutoFit/>
          </a:bodyPr>
          <a:lstStyle/>
          <a:p>
            <a:pPr>
              <a:lnSpc>
                <a:spcPts val="2160"/>
              </a:lnSpc>
              <a:spcAft>
                <a:spcPts val="0"/>
              </a:spcAft>
              <a:defRPr sz="1739" b="0">
                <a:solidFill>
                  <a:srgbClr val="F5F7FA"/>
                </a:solidFill>
                <a:latin typeface="Arial"/>
              </a:defRPr>
            </a:pPr>
            <a:r>
              <a:t>Python kursi qaysi kunlari va soat nechada?</a:t>
            </a:r>
          </a:p>
        </p:txBody>
      </p:sp>
      <p:sp>
        <p:nvSpPr>
          <p:cNvPr id="16" name="Rectangle 15"/>
          <p:cNvSpPr/>
          <p:nvPr/>
        </p:nvSpPr>
        <p:spPr>
          <a:xfrm>
            <a:off x="5212080" y="3810000"/>
            <a:ext cx="6416040" cy="1257300"/>
          </a:xfrm>
          <a:prstGeom prst="rect">
            <a:avLst/>
          </a:prstGeom>
          <a:solidFill>
            <a:srgbClr val="1B2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55920" y="4008120"/>
            <a:ext cx="5905500" cy="266700"/>
          </a:xfrm>
          <a:prstGeom prst="rect">
            <a:avLst/>
          </a:prstGeom>
          <a:noFill/>
        </p:spPr>
        <p:txBody>
          <a:bodyPr wrap="none" lIns="0" rIns="0" tIns="0" bIns="0">
            <a:spAutoFit/>
          </a:bodyPr>
          <a:lstStyle/>
          <a:p>
            <a:pPr>
              <a:lnSpc>
                <a:spcPts val="1500"/>
              </a:lnSpc>
              <a:spcAft>
                <a:spcPts val="0"/>
              </a:spcAft>
              <a:defRPr sz="1200" b="1">
                <a:solidFill>
                  <a:srgbClr val="72E3BB"/>
                </a:solidFill>
                <a:latin typeface="Arial"/>
              </a:defRPr>
            </a:pPr>
            <a:r>
              <a:t>YORDAMCHI — JAVOB NAMUNASI</a:t>
            </a:r>
          </a:p>
        </p:txBody>
      </p:sp>
      <p:sp>
        <p:nvSpPr>
          <p:cNvPr id="18" name="TextBox 17"/>
          <p:cNvSpPr txBox="1"/>
          <p:nvPr/>
        </p:nvSpPr>
        <p:spPr>
          <a:xfrm>
            <a:off x="5455920" y="4328160"/>
            <a:ext cx="5905500" cy="365760"/>
          </a:xfrm>
          <a:prstGeom prst="rect">
            <a:avLst/>
          </a:prstGeom>
          <a:noFill/>
        </p:spPr>
        <p:txBody>
          <a:bodyPr wrap="none" lIns="0" rIns="0" tIns="0" bIns="0">
            <a:spAutoFit/>
          </a:bodyPr>
          <a:lstStyle/>
          <a:p>
            <a:pPr>
              <a:lnSpc>
                <a:spcPts val="2280"/>
              </a:lnSpc>
              <a:spcAft>
                <a:spcPts val="0"/>
              </a:spcAft>
              <a:defRPr sz="1859" b="0">
                <a:solidFill>
                  <a:srgbClr val="F5F7FA"/>
                </a:solidFill>
                <a:latin typeface="Arial"/>
              </a:defRPr>
            </a:pPr>
            <a:r>
              <a:t>Darslar seshanba va payshanba kunlari soat 18:00 da.</a:t>
            </a:r>
          </a:p>
        </p:txBody>
      </p:sp>
      <p:sp>
        <p:nvSpPr>
          <p:cNvPr id="19" name="TextBox 18"/>
          <p:cNvSpPr txBox="1"/>
          <p:nvPr/>
        </p:nvSpPr>
        <p:spPr>
          <a:xfrm>
            <a:off x="563880" y="5387340"/>
            <a:ext cx="11049000" cy="388620"/>
          </a:xfrm>
          <a:prstGeom prst="rect">
            <a:avLst/>
          </a:prstGeom>
          <a:noFill/>
        </p:spPr>
        <p:txBody>
          <a:bodyPr wrap="none" lIns="0" rIns="0" tIns="0" bIns="0">
            <a:spAutoFit/>
          </a:bodyPr>
          <a:lstStyle/>
          <a:p>
            <a:pPr>
              <a:lnSpc>
                <a:spcPts val="2460"/>
              </a:lnSpc>
              <a:spcAft>
                <a:spcPts val="0"/>
              </a:spcAft>
              <a:defRPr sz="1980" b="1">
                <a:solidFill>
                  <a:srgbClr val="72E3BB"/>
                </a:solidFill>
                <a:latin typeface="Arial"/>
              </a:defRPr>
            </a:pPr>
            <a:r>
              <a:t>Natija: savolga javob olindi; mentor qo‘lda yozmadi.</a:t>
            </a:r>
          </a:p>
        </p:txBody>
      </p:sp>
      <p:sp>
        <p:nvSpPr>
          <p:cNvPr id="20" name="TextBox 19"/>
          <p:cNvSpPr txBox="1"/>
          <p:nvPr/>
        </p:nvSpPr>
        <p:spPr>
          <a:xfrm>
            <a:off x="563880" y="5829300"/>
            <a:ext cx="11049000" cy="281940"/>
          </a:xfrm>
          <a:prstGeom prst="rect">
            <a:avLst/>
          </a:prstGeom>
          <a:noFill/>
        </p:spPr>
        <p:txBody>
          <a:bodyPr wrap="none" lIns="0" rIns="0" tIns="0" bIns="0">
            <a:spAutoFit/>
          </a:bodyPr>
          <a:lstStyle/>
          <a:p>
            <a:pPr>
              <a:lnSpc>
                <a:spcPts val="1620"/>
              </a:lnSpc>
              <a:spcAft>
                <a:spcPts val="0"/>
              </a:spcAft>
              <a:defRPr sz="1320" b="0">
                <a:solidFill>
                  <a:srgbClr val="A9B8C9"/>
                </a:solidFill>
                <a:latin typeface="Arial"/>
              </a:defRPr>
            </a:pPr>
            <a:r>
              <a:t>Sxematik namuna, haqiqiy chat skrinshoti emas. Demo oldidan sinov akkauntida tekshiriladi.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A28"/>
        </a:solidFill>
        <a:effectLst/>
      </p:bgPr>
    </p:bg>
    <p:spTree>
      <p:nvGrpSpPr>
        <p:cNvPr id="1" name=""/>
        <p:cNvGrpSpPr/>
        <p:nvPr/>
      </p:nvGrpSpPr>
      <p:grpSpPr/>
      <p:sp>
        <p:nvSpPr>
          <p:cNvPr id="2" name="Rectangle 1"/>
          <p:cNvSpPr/>
          <p:nvPr/>
        </p:nvSpPr>
        <p:spPr>
          <a:xfrm>
            <a:off x="548640" y="464820"/>
            <a:ext cx="76200" cy="198120"/>
          </a:xfrm>
          <a:prstGeom prst="rect">
            <a:avLst/>
          </a:prstGeom>
          <a:solidFill>
            <a:srgbClr val="72E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2000" y="457200"/>
            <a:ext cx="6096000" cy="274320"/>
          </a:xfrm>
          <a:prstGeom prst="rect">
            <a:avLst/>
          </a:prstGeom>
          <a:noFill/>
        </p:spPr>
        <p:txBody>
          <a:bodyPr wrap="none" lIns="0" rIns="0" tIns="0" bIns="0">
            <a:spAutoFit/>
          </a:bodyPr>
          <a:lstStyle/>
          <a:p>
            <a:pPr>
              <a:lnSpc>
                <a:spcPts val="1560"/>
              </a:lnSpc>
              <a:spcAft>
                <a:spcPts val="0"/>
              </a:spcAft>
              <a:defRPr sz="1260" b="1">
                <a:solidFill>
                  <a:srgbClr val="72E3BB"/>
                </a:solidFill>
                <a:latin typeface="Arial"/>
              </a:defRPr>
            </a:pPr>
            <a:r>
              <a:t>CODDYHELPER / KEYINGI QADAM</a:t>
            </a:r>
          </a:p>
        </p:txBody>
      </p:sp>
      <p:sp>
        <p:nvSpPr>
          <p:cNvPr id="4" name="TextBox 3"/>
          <p:cNvSpPr txBox="1"/>
          <p:nvPr/>
        </p:nvSpPr>
        <p:spPr>
          <a:xfrm>
            <a:off x="9829800" y="472440"/>
            <a:ext cx="1905000" cy="274320"/>
          </a:xfrm>
          <a:prstGeom prst="rect">
            <a:avLst/>
          </a:prstGeom>
          <a:noFill/>
        </p:spPr>
        <p:txBody>
          <a:bodyPr wrap="none" lIns="0" rIns="0" tIns="0" bIns="0">
            <a:spAutoFit/>
          </a:bodyPr>
          <a:lstStyle/>
          <a:p>
            <a:pPr>
              <a:lnSpc>
                <a:spcPts val="1560"/>
              </a:lnSpc>
              <a:spcAft>
                <a:spcPts val="0"/>
              </a:spcAft>
              <a:defRPr sz="1260" b="0">
                <a:solidFill>
                  <a:srgbClr val="A9B8C9"/>
                </a:solidFill>
                <a:latin typeface="Arial"/>
              </a:defRPr>
            </a:pPr>
            <a:r>
              <a:t>2:40–3:00</a:t>
            </a:r>
          </a:p>
        </p:txBody>
      </p:sp>
      <p:sp>
        <p:nvSpPr>
          <p:cNvPr id="5" name="TextBox 4"/>
          <p:cNvSpPr txBox="1"/>
          <p:nvPr/>
        </p:nvSpPr>
        <p:spPr>
          <a:xfrm>
            <a:off x="548640" y="1051560"/>
            <a:ext cx="11049000" cy="1325880"/>
          </a:xfrm>
          <a:prstGeom prst="rect">
            <a:avLst/>
          </a:prstGeom>
          <a:noFill/>
        </p:spPr>
        <p:txBody>
          <a:bodyPr wrap="none" lIns="0" rIns="0" tIns="0" bIns="0">
            <a:spAutoFit/>
          </a:bodyPr>
          <a:lstStyle/>
          <a:p>
            <a:pPr>
              <a:lnSpc>
                <a:spcPts val="4920"/>
              </a:lnSpc>
              <a:spcAft>
                <a:spcPts val="0"/>
              </a:spcAft>
              <a:defRPr sz="3960" b="1">
                <a:solidFill>
                  <a:srgbClr val="F5F7FA"/>
                </a:solidFill>
                <a:latin typeface="Arial"/>
              </a:defRPr>
            </a:pPr>
            <a:r>
              <a:t>5 mentor. 2 hafta.</a:t>
            </a:r>
          </a:p>
          <a:p>
            <a:pPr>
              <a:lnSpc>
                <a:spcPts val="4920"/>
              </a:lnSpc>
              <a:spcAft>
                <a:spcPts val="0"/>
              </a:spcAft>
              <a:defRPr sz="3960" b="1">
                <a:solidFill>
                  <a:srgbClr val="F5F7FA"/>
                </a:solidFill>
                <a:latin typeface="Arial"/>
              </a:defRPr>
            </a:pPr>
            <a:r>
              <a:t>Bitta tekshiruv.</a:t>
            </a:r>
          </a:p>
        </p:txBody>
      </p:sp>
      <p:sp>
        <p:nvSpPr>
          <p:cNvPr id="6" name="Rectangle 5"/>
          <p:cNvSpPr/>
          <p:nvPr/>
        </p:nvSpPr>
        <p:spPr>
          <a:xfrm>
            <a:off x="548640" y="6278880"/>
            <a:ext cx="11087100" cy="15240"/>
          </a:xfrm>
          <a:prstGeom prst="rect">
            <a:avLst/>
          </a:prstGeom>
          <a:solidFill>
            <a:srgbClr val="2A3A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3880" y="6461760"/>
            <a:ext cx="91440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LESSON 6 · PITCH &amp; DEMO DAY</a:t>
            </a:r>
          </a:p>
        </p:txBody>
      </p:sp>
      <p:sp>
        <p:nvSpPr>
          <p:cNvPr id="8" name="TextBox 7"/>
          <p:cNvSpPr txBox="1"/>
          <p:nvPr/>
        </p:nvSpPr>
        <p:spPr>
          <a:xfrm>
            <a:off x="10934700" y="6461760"/>
            <a:ext cx="914400" cy="236220"/>
          </a:xfrm>
          <a:prstGeom prst="rect">
            <a:avLst/>
          </a:prstGeom>
          <a:noFill/>
        </p:spPr>
        <p:txBody>
          <a:bodyPr wrap="none" lIns="0" rIns="0" tIns="0" bIns="0">
            <a:spAutoFit/>
          </a:bodyPr>
          <a:lstStyle/>
          <a:p>
            <a:pPr>
              <a:lnSpc>
                <a:spcPts val="1260"/>
              </a:lnSpc>
              <a:spcAft>
                <a:spcPts val="0"/>
              </a:spcAft>
              <a:defRPr sz="1019" b="0">
                <a:solidFill>
                  <a:srgbClr val="A9B8C9"/>
                </a:solidFill>
                <a:latin typeface="Arial"/>
              </a:defRPr>
            </a:pPr>
            <a:r>
              <a:t>06 / 06</a:t>
            </a:r>
          </a:p>
        </p:txBody>
      </p:sp>
      <p:sp>
        <p:nvSpPr>
          <p:cNvPr id="9" name="TextBox 8"/>
          <p:cNvSpPr txBox="1"/>
          <p:nvPr/>
        </p:nvSpPr>
        <p:spPr>
          <a:xfrm>
            <a:off x="563880" y="2667000"/>
            <a:ext cx="10668000" cy="868680"/>
          </a:xfrm>
          <a:prstGeom prst="rect">
            <a:avLst/>
          </a:prstGeom>
          <a:noFill/>
        </p:spPr>
        <p:txBody>
          <a:bodyPr wrap="none" lIns="0" rIns="0" tIns="0" bIns="0">
            <a:spAutoFit/>
          </a:bodyPr>
          <a:lstStyle/>
          <a:p>
            <a:pPr>
              <a:lnSpc>
                <a:spcPts val="3120"/>
              </a:lnSpc>
              <a:spcAft>
                <a:spcPts val="0"/>
              </a:spcAft>
              <a:defRPr sz="2520" b="0">
                <a:solidFill>
                  <a:srgbClr val="A9B8C9"/>
                </a:solidFill>
                <a:latin typeface="Arial"/>
              </a:defRPr>
            </a:pPr>
            <a:r>
              <a:t>Yordamchi qancha savolni to‘g‘ri hal qiladi</a:t>
            </a:r>
          </a:p>
          <a:p>
            <a:pPr>
              <a:lnSpc>
                <a:spcPts val="3120"/>
              </a:lnSpc>
              <a:spcAft>
                <a:spcPts val="0"/>
              </a:spcAft>
              <a:defRPr sz="2520" b="0">
                <a:solidFill>
                  <a:srgbClr val="A9B8C9"/>
                </a:solidFill>
                <a:latin typeface="Arial"/>
              </a:defRPr>
            </a:pPr>
            <a:r>
              <a:t>va sizga qancha vaqt qaytaradi?</a:t>
            </a:r>
          </a:p>
        </p:txBody>
      </p:sp>
      <p:sp>
        <p:nvSpPr>
          <p:cNvPr id="10" name="Rectangle 9"/>
          <p:cNvSpPr/>
          <p:nvPr/>
        </p:nvSpPr>
        <p:spPr>
          <a:xfrm>
            <a:off x="563880" y="3848099"/>
            <a:ext cx="11064240" cy="1295400"/>
          </a:xfrm>
          <a:prstGeom prst="rect">
            <a:avLst/>
          </a:prstGeom>
          <a:solidFill>
            <a:srgbClr val="72E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3440" y="4175760"/>
            <a:ext cx="10287000" cy="571500"/>
          </a:xfrm>
          <a:prstGeom prst="rect">
            <a:avLst/>
          </a:prstGeom>
          <a:noFill/>
        </p:spPr>
        <p:txBody>
          <a:bodyPr wrap="none" lIns="0" rIns="0" tIns="0" bIns="0">
            <a:spAutoFit/>
          </a:bodyPr>
          <a:lstStyle/>
          <a:p>
            <a:pPr>
              <a:lnSpc>
                <a:spcPts val="3900"/>
              </a:lnSpc>
              <a:spcAft>
                <a:spcPts val="0"/>
              </a:spcAft>
              <a:defRPr sz="3120" b="1">
                <a:solidFill>
                  <a:srgbClr val="101A28"/>
                </a:solidFill>
                <a:latin typeface="Arial"/>
              </a:defRPr>
            </a:pPr>
            <a:r>
              <a:t>Bugun menga «pilot» deb yozing.</a:t>
            </a:r>
          </a:p>
        </p:txBody>
      </p:sp>
      <p:sp>
        <p:nvSpPr>
          <p:cNvPr id="12" name="TextBox 11"/>
          <p:cNvSpPr txBox="1"/>
          <p:nvPr/>
        </p:nvSpPr>
        <p:spPr>
          <a:xfrm>
            <a:off x="563880" y="5501640"/>
            <a:ext cx="10668000" cy="396240"/>
          </a:xfrm>
          <a:prstGeom prst="rect">
            <a:avLst/>
          </a:prstGeom>
          <a:noFill/>
        </p:spPr>
        <p:txBody>
          <a:bodyPr wrap="none" lIns="0" rIns="0" tIns="0" bIns="0">
            <a:spAutoFit/>
          </a:bodyPr>
          <a:lstStyle/>
          <a:p>
            <a:pPr>
              <a:lnSpc>
                <a:spcPts val="2520"/>
              </a:lnSpc>
              <a:spcAft>
                <a:spcPts val="0"/>
              </a:spcAft>
              <a:defRPr sz="2039" b="0">
                <a:solidFill>
                  <a:srgbClr val="F5F7FA"/>
                </a:solidFill>
                <a:latin typeface="Arial"/>
              </a:defRPr>
            </a:pPr>
            <a:r>
              <a:t>Eng ko‘p keladigan 5 ta savolingizni tayyorlang.</a:t>
            </a:r>
          </a:p>
        </p:txBody>
      </p:sp>
      <p:sp>
        <p:nvSpPr>
          <p:cNvPr id="13" name="TextBox 12"/>
          <p:cNvSpPr txBox="1"/>
          <p:nvPr/>
        </p:nvSpPr>
        <p:spPr>
          <a:xfrm>
            <a:off x="563880" y="5920740"/>
            <a:ext cx="10668000" cy="281940"/>
          </a:xfrm>
          <a:prstGeom prst="rect">
            <a:avLst/>
          </a:prstGeom>
          <a:noFill/>
        </p:spPr>
        <p:txBody>
          <a:bodyPr wrap="none" lIns="0" rIns="0" tIns="0" bIns="0">
            <a:spAutoFit/>
          </a:bodyPr>
          <a:lstStyle/>
          <a:p>
            <a:pPr>
              <a:lnSpc>
                <a:spcPts val="1620"/>
              </a:lnSpc>
              <a:spcAft>
                <a:spcPts val="0"/>
              </a:spcAft>
              <a:defRPr sz="1320" b="0">
                <a:solidFill>
                  <a:srgbClr val="A9B8C9"/>
                </a:solidFill>
                <a:latin typeface="Arial"/>
              </a:defRPr>
            </a:pPr>
            <a:r>
              <a:t>Pilot taklifi — natijalar hali o‘lchanmagan.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CoddyHelper — Lesson 6 Pitch</dc:title>
  <dc:subject>3 daqiqalik pitch va demo</dc:subject>
  <dc:creator>CoddyHelper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